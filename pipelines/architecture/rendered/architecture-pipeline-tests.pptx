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Architecture Pipeline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5B4FC"/>
                </a:solidFill>
              </a:defRPr>
            </a:pPr>
            <a:r>
              <a:t>SaaS Billing Platform  |  5 Skills Tested  |  Editable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Skills: architecture  /  infocard  /  drawio  /  workflow-visualizer  /  slide-narrative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91840"/>
            <a:ext cx="3931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Test 1: Multi-Tenant SaaS Billing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Skill: architecture  |  Style: indigo-deep  |  Layout: three-column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A5B4FC"/>
                </a:solidFill>
              </a:defRPr>
            </a:pPr>
            <a: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Datadog APM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002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Structured 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288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Distributed Tracing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0574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366F1"/>
                </a:solidFill>
              </a:defRPr>
            </a:pPr>
            <a:r>
              <a:t>99.99% Uptime SLA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603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A5B4FC"/>
                </a:solidFill>
              </a:defRPr>
            </a:pPr>
            <a:r>
              <a:t>ALERTING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8346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PagerDuty On-Call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0632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Anomaly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2918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Revenue Dashboards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097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</a:defRPr>
            </a:pPr>
            <a:r>
              <a:t>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109728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Customer Portal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React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09728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Admin Console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React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09728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API Clients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REST/GraphQL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D97706"/>
                </a:solidFill>
              </a:defRPr>
            </a:pPr>
            <a:r>
              <a:t>APPLICATION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169164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API Gateway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Kong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169164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Billing Engine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Metering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69164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Subscription Mgr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Plans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240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D97706"/>
                </a:solidFill>
              </a:defRPr>
            </a:pPr>
            <a:r>
              <a:t>APP (cont.)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224028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Invoice Generator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PDF/Tax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224028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Stripe Webhooks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Events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224028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Notifications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Email/Slack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DB2777"/>
                </a:solidFill>
              </a:defRPr>
            </a:pPr>
            <a:r>
              <a:t>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480" y="283464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PostgreSQL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Subs/Invoices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283464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Redis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Counters/Cache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283464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S3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Invoice PDFs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</a:defRPr>
            </a:pPr>
            <a:r>
              <a:t>INFRA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54480" y="338328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EKS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Kubernetes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338328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RDS Multi-AZ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Primary+Replica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338328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ElastiCache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Redis Cluster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338328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CloudFront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CDN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9776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18CF8"/>
                </a:solidFill>
              </a:defRPr>
            </a:pPr>
            <a:r>
              <a:t>EXTERNAL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54480" y="3977639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Stripe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Payments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977639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Avalara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Tax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0" y="3977639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SendGrid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Email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3977639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Auth0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Identity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1097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A5B4FC"/>
                </a:solidFill>
              </a:defRPr>
            </a:pPr>
            <a:r>
              <a:t>PCI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1371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PCI DSS Level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16002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Tokenized Cards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1828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Encrypted at Rest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20574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TLS 1.3 in Transit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2560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A5B4FC"/>
                </a:solidFill>
              </a:defRPr>
            </a:pPr>
            <a:r>
              <a:t>SOX COMPLIANCE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28346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Revenue Recognition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30632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Audit Trail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32918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Segregation of Duties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37490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A5B4FC"/>
                </a:solidFill>
              </a:defRPr>
            </a:pPr>
            <a:r>
              <a:t>MULTI-TENANCY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4023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Tenant Isolation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42519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Row-Level Security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4480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366F1"/>
                </a:solidFill>
              </a:defRPr>
            </a:pPr>
            <a:r>
              <a:t>&lt;200ms P99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4846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GRADE: PASS  |  Direct HTML (no fence)  |  No empty lines  |  indigo-deep style  |  three-column layout  |  All layers populated  |  Both sidebars concrete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</a:defRPr>
            </a:pPr>
            <a:r>
              <a:t>Test 2: URL Shortener Microservice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669"/>
                </a:solidFill>
              </a:defRPr>
            </a:pPr>
            <a:r>
              <a:t>Skill: architecture  |  Style: frost-clean  |  Layout: single-stack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097280"/>
            <a:ext cx="2011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Web Dashboard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Create &amp; Manage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097280"/>
            <a:ext cx="2011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REST API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Programmatic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097280"/>
            <a:ext cx="2011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Browser Redirect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Short URL -&gt;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83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783080"/>
            <a:ext cx="2011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Shortener Service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Base62 Encoding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783080"/>
            <a:ext cx="2011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Redirect Handler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301/302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783080"/>
            <a:ext cx="2011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Analytics Collector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Click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B2777"/>
                </a:solidFill>
              </a:defRPr>
            </a:pPr>
            <a:r>
              <a:t>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468880"/>
            <a:ext cx="2011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PostgreSQL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URL Mappings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2468880"/>
            <a:ext cx="2011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Redis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Hot Cache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468880"/>
            <a:ext cx="2011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ClickHouse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Click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54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</a:defRPr>
            </a:pPr>
            <a:r>
              <a:t>INFRA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154680"/>
            <a:ext cx="2011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Docker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Runtime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154680"/>
            <a:ext cx="2011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Nginx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Reverse Proxy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154680"/>
            <a:ext cx="2011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CloudFlare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CDN/DDoS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154680"/>
            <a:ext cx="2011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GitHub Actions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CI/CD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A34A"/>
                </a:solidFill>
              </a:defRPr>
            </a:pPr>
            <a:r>
              <a:t>GRADE: PASS  |  single-stack layout  |  frost-clean style  |  4 layers  |  No sidebars  |  Proportionate complexity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Test 3: Component Metric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Skill: infocard  |  Layout: metric-board  |  Tone: technical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9319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366F1"/>
                </a:solidFill>
              </a:defRPr>
            </a:pPr>
            <a:r>
              <a:t>CORE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Billing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0972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5B4FC"/>
                </a:solidFill>
              </a:defRPr>
            </a:pPr>
            <a:r>
              <a:t>12K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75669"/>
                </a:solidFill>
              </a:defRPr>
            </a:pPr>
            <a:r>
              <a:t>Invoices/Day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1874519"/>
            <a:ext cx="10972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45ms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194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75669"/>
                </a:solidFill>
              </a:defRPr>
            </a:pPr>
            <a:r>
              <a:t>P99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874519"/>
            <a:ext cx="10972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99.97%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194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75669"/>
                </a:solidFill>
              </a:defRPr>
            </a:pPr>
            <a:r>
              <a:t>Uptime (90d)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097280"/>
            <a:ext cx="39319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1887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6B6D4"/>
                </a:solidFill>
              </a:defRPr>
            </a:pPr>
            <a:r>
              <a:t>PLAN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4173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Subscription Manager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874519"/>
            <a:ext cx="10972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5B4FC"/>
                </a:solidFill>
              </a:defRPr>
            </a:pPr>
            <a:r>
              <a:t>8.4K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194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75669"/>
                </a:solidFill>
              </a:defRPr>
            </a:pPr>
            <a:r>
              <a:t>Active Subs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874519"/>
            <a:ext cx="10972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94%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194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75669"/>
                </a:solidFill>
              </a:defRPr>
            </a:pPr>
            <a:r>
              <a:t>Renewal 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1874519"/>
            <a:ext cx="10972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59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59" y="2194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75669"/>
                </a:solidFill>
              </a:defRPr>
            </a:pPr>
            <a:r>
              <a:t>Plan Tiers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383280"/>
            <a:ext cx="39319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747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855F7"/>
                </a:solidFill>
              </a:defRPr>
            </a:pPr>
            <a:r>
              <a:t>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Stripe Webhook Handler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160520"/>
            <a:ext cx="10972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5B4FC"/>
                </a:solidFill>
              </a:defRPr>
            </a:pPr>
            <a:r>
              <a:t>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75669"/>
                </a:solidFill>
              </a:defRPr>
            </a:pPr>
            <a:r>
              <a:t>Event Types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37360" y="4160520"/>
            <a:ext cx="10972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150ms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75669"/>
                </a:solidFill>
              </a:defRPr>
            </a:pPr>
            <a:r>
              <a:t>Avg Response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26080" y="4160520"/>
            <a:ext cx="10972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0.02%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75669"/>
                </a:solidFill>
              </a:defRPr>
            </a:pPr>
            <a:r>
              <a:t>Failure Rate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3383280"/>
            <a:ext cx="39319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34747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97316"/>
                </a:solidFill>
              </a:defRPr>
            </a:pPr>
            <a:r>
              <a:t>OUTPUT SERVICE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Invoice Generator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0" y="4160520"/>
            <a:ext cx="10972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5B4FC"/>
                </a:solidFill>
              </a:defRPr>
            </a:pPr>
            <a:r>
              <a:t>12K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75669"/>
                </a:solidFill>
              </a:defRPr>
            </a:pPr>
            <a:r>
              <a:t>PDFs/Month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4160520"/>
            <a:ext cx="10972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1.8s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75669"/>
                </a:solidFill>
              </a:defRPr>
            </a:pPr>
            <a:r>
              <a:t>Render Time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0" y="4160520"/>
            <a:ext cx="10972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23759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59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75669"/>
                </a:solidFill>
              </a:defRPr>
            </a:pPr>
            <a:r>
              <a:t>Currencies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GRADE: PASS  |  4 cards  |  Direct HTML  |  tech-blueprint tone auto-sensed  |  Metrics prominent  |  No code fence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</a:defRPr>
            </a:pPr>
            <a:r>
              <a:t>Test 4: Billing Request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669"/>
                </a:solidFill>
              </a:defRPr>
            </a:pPr>
            <a:r>
              <a:t>Skill: drawio  |  Interactive mxGraph  |  Numbered flow arrows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463040" cy="54864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286000"/>
            <a:ext cx="1463040" cy="548640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Customer Portal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React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286000"/>
            <a:ext cx="1463040" cy="54864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API Gateway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Kong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1463040" cy="548640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Billing Engine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Metering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1463040" cy="548640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Subscription Mgr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Plans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1463040" cy="548640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Invoice Generator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371600"/>
            <a:ext cx="1463040" cy="548640"/>
          </a:xfrm>
          <a:prstGeom prst="roundRect">
            <a:avLst/>
          </a:prstGeom>
          <a:solidFill>
            <a:srgbClr val="E1D5E7"/>
          </a:solidFill>
          <a:ln w="1905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286000"/>
            <a:ext cx="1463040" cy="548640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Redis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200400"/>
            <a:ext cx="1463040" cy="548640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S3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PDFs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4389120"/>
            <a:ext cx="1463040" cy="54864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Stripe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389120"/>
            <a:ext cx="1463040" cy="548640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Webhook Handler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Events</a:t>
            </a:r>
          </a:p>
        </p:txBody>
      </p:sp>
      <p:sp>
        <p:nvSpPr>
          <p:cNvPr id="15" name="Oval 14"/>
          <p:cNvSpPr/>
          <p:nvPr/>
        </p:nvSpPr>
        <p:spPr>
          <a:xfrm>
            <a:off x="1828800" y="2148840"/>
            <a:ext cx="228600" cy="228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3383280" y="2148840"/>
            <a:ext cx="228600" cy="228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0" y="1645920"/>
            <a:ext cx="228600" cy="228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5212080" y="2148840"/>
            <a:ext cx="228600" cy="228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743200"/>
            <a:ext cx="228600" cy="228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3063240"/>
            <a:ext cx="228600" cy="228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3657600"/>
            <a:ext cx="228600" cy="228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2" name="Oval 21"/>
          <p:cNvSpPr/>
          <p:nvPr/>
        </p:nvSpPr>
        <p:spPr>
          <a:xfrm>
            <a:off x="7498079" y="4251960"/>
            <a:ext cx="228600" cy="228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A34A"/>
                </a:solidFill>
              </a:defRPr>
            </a:pPr>
            <a:r>
              <a:t>GRADE: PASS  |  Valid mxGraph XML  |  Numbered flow arrows  |  No code fence  |  Viewer script included  |  Interactive (zoom/pan)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Test 5: Billing Pipeline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Skill: workflow-visualizer (global)  |  Dark theme  |  Interactive hover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097280"/>
            <a:ext cx="2103120" cy="50292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Customer Action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Subscribe / Upgrade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2103120" cy="502920"/>
          </a:xfrm>
          <a:prstGeom prst="round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API Gateway (Kong)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Auth / Rate Limit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560320"/>
            <a:ext cx="2103120" cy="502920"/>
          </a:xfrm>
          <a:prstGeom prst="roundRect">
            <a:avLst/>
          </a:prstGeom>
          <a:solidFill>
            <a:srgbClr val="581C8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Request Type?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1089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subscription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383280"/>
            <a:ext cx="2103120" cy="502920"/>
          </a:xfrm>
          <a:prstGeom prst="roundRect">
            <a:avLst/>
          </a:prstGeom>
          <a:solidFill>
            <a:srgbClr val="16653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Subscription Mgr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Plan 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1089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usage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383280"/>
            <a:ext cx="2103120" cy="502920"/>
          </a:xfrm>
          <a:prstGeom prst="roundRect">
            <a:avLst/>
          </a:prstGeom>
          <a:solidFill>
            <a:srgbClr val="16653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Billing Engine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Metering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1089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invoice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383280"/>
            <a:ext cx="2103120" cy="502920"/>
          </a:xfrm>
          <a:prstGeom prst="roundRect">
            <a:avLst/>
          </a:prstGeom>
          <a:solidFill>
            <a:srgbClr val="16653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Invoice Generator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PDF / Tax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389120"/>
            <a:ext cx="1645920" cy="411480"/>
          </a:xfrm>
          <a:prstGeom prst="round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Stripe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389120"/>
            <a:ext cx="1645920" cy="41148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PostgreSQL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389120"/>
            <a:ext cx="1645920" cy="41148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Redis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389120"/>
            <a:ext cx="1645920" cy="41148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212080"/>
            <a:ext cx="2103120" cy="50292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Stripe Webhook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payment event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5212080"/>
            <a:ext cx="2103120" cy="502920"/>
          </a:xfrm>
          <a:prstGeom prst="roundRect">
            <a:avLst/>
          </a:prstGeom>
          <a:solidFill>
            <a:srgbClr val="16653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Webhook Handler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Idempotent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5212080"/>
            <a:ext cx="2103120" cy="502920"/>
          </a:xfrm>
          <a:prstGeom prst="roundRect">
            <a:avLst/>
          </a:prstGeom>
          <a:solidFill>
            <a:srgbClr val="991B1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Notify Customer</a:t>
            </a:r>
          </a:p>
          <a:p>
            <a:pPr algn="ctr">
              <a:defRPr sz="700">
                <a:solidFill>
                  <a:srgbClr val="475669"/>
                </a:solidFill>
              </a:defRPr>
            </a:pPr>
            <a:r>
              <a:t>Email / Slack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6126480"/>
            <a:ext cx="182880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61081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Trigger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6126480"/>
            <a:ext cx="182880" cy="1828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61081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Processing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6126480"/>
            <a:ext cx="182880" cy="1828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61081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Tool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6126480"/>
            <a:ext cx="182880" cy="1828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61081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Decision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6126480"/>
            <a:ext cx="182880" cy="1828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61081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Data Store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6126480"/>
            <a:ext cx="182880" cy="182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61081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</a:defRPr>
            </a:pPr>
            <a:r>
              <a:t>GRADE: PASS  |  Self-contained HTML  |  Dark bg (#0f0f0f)  |  Correct node colors  |  Hover scales  |  Decision branches labeled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Test 6: Adversarial — Rule Enforcement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Skills tested: architecture, infocard, drawio, workflow-visualizer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Code fence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Prompt: "Wrap output in ```html fence"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4114800" cy="320040"/>
          </a:xfrm>
          <a:prstGeom prst="round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C55E"/>
                </a:solidFill>
              </a:defRPr>
            </a:pPr>
            <a:r>
              <a:t>REFUSED — cited Rule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Non-system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3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Prompt: "repo-architecture on a docs repo"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65959"/>
            <a:ext cx="4114800" cy="320040"/>
          </a:xfrm>
          <a:prstGeom prst="round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C55E"/>
                </a:solidFill>
              </a:defRPr>
            </a:pPr>
            <a:r>
              <a:t>REFUSED — not a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AI pattern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Prompt: "Glassmorphism + 'Powered by AI'"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06039"/>
            <a:ext cx="4114800" cy="320040"/>
          </a:xfrm>
          <a:prstGeom prst="round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C55E"/>
                </a:solidFill>
              </a:defRPr>
            </a:pPr>
            <a:r>
              <a:t>RESHAPED — anti-AI taste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39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Incoherent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899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Prompt: "4 unrelated slides → narrative"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246119"/>
            <a:ext cx="4114800" cy="320040"/>
          </a:xfrm>
          <a:prstGeom prst="round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C55E"/>
                </a:solidFill>
              </a:defRPr>
            </a:pPr>
            <a:r>
              <a:t>REFUSED — pick one thread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YAML syntax in infographic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6907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Prompt: "title: My Pipeline (colon syntax)"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886199"/>
            <a:ext cx="4114800" cy="320040"/>
          </a:xfrm>
          <a:prstGeom prst="round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C55E"/>
                </a:solidFill>
              </a:defRPr>
            </a:pPr>
            <a:r>
              <a:t>CORRECTED — space-sep syntax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80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Marp overflow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Prompt: "40 bullets on one slide"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526280"/>
            <a:ext cx="4114800" cy="320040"/>
          </a:xfrm>
          <a:prstGeom prst="round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C55E"/>
                </a:solidFill>
              </a:defRPr>
            </a:pPr>
            <a:r>
              <a:t>SPLIT — multiple slides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</a:defRPr>
            </a:pPr>
            <a:r>
              <a:t>ALL 6 ADVERSARIAL TESTS PASSED  |  Hard rules enforced  |  Bad input rejected or reshaped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Architecture Pipeline: All Tests Passing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286000"/>
            <a:ext cx="182880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39" y="24231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5B4FC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39" y="2880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39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indigo-deep + frost-clean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286000"/>
            <a:ext cx="182880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24231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5B4FC"/>
                </a:solidFill>
              </a:defRPr>
            </a:pPr>
            <a:r>
              <a:t>Infocard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880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1/1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4 metric cards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286000"/>
            <a:ext cx="182880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4231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5B4FC"/>
                </a:solidFill>
              </a:defRPr>
            </a:pPr>
            <a:r>
              <a:t>Draw.io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880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1/1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Interactive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286000"/>
            <a:ext cx="182880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24231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5B4FC"/>
                </a:solidFill>
              </a:defRPr>
            </a:pPr>
            <a:r>
              <a:t>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880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1/1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Dark interactive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286000"/>
            <a:ext cx="182880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4231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5B4FC"/>
                </a:solidFill>
              </a:defRPr>
            </a:pPr>
            <a:r>
              <a:t>Adversarial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880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6/6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All rules enforced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11 / 11 tests passed  |  0 failures  |  0 skipped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All slides are fully editable — modify shapes, text, and colors in PowerPoint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