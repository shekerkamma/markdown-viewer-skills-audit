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g"/>
          <p:cNvPicPr>
            <a:picLocks noChangeAspect="1"/>
          </p:cNvPicPr>
          <p:nvPr/>
        </p:nvPicPr>
        <p:blipFill>
          <a:blip r:embed="rId2"/>
          <a:stretch>
            <a:fillRect/>
          </a:stretch>
        </p:blipFill>
        <p:spPr>
          <a:xfrm>
            <a:off x="8076895" y="0"/>
            <a:ext cx="4114800" cy="6858000"/>
          </a:xfrm>
          <a:prstGeom prst="rect">
            <a:avLst/>
          </a:prstGeom>
        </p:spPr>
      </p:pic>
      <p:sp>
        <p:nvSpPr>
          <p:cNvPr id="5" name="TextBox 4"/>
          <p:cNvSpPr txBox="1"/>
          <p:nvPr/>
        </p:nvSpPr>
        <p:spPr>
          <a:xfrm>
            <a:off x="731520" y="914400"/>
            <a:ext cx="6400800" cy="1097280"/>
          </a:xfrm>
          <a:prstGeom prst="rect">
            <a:avLst/>
          </a:prstGeom>
          <a:noFill/>
        </p:spPr>
        <p:txBody>
          <a:bodyPr wrap="square">
            <a:spAutoFit/>
          </a:bodyPr>
          <a:lstStyle/>
          <a:p>
            <a:pPr algn="l">
              <a:spcAft>
                <a:spcPts val="200"/>
              </a:spcAft>
              <a:defRPr sz="5200" b="1">
                <a:solidFill>
                  <a:srgbClr val="FFFFFF"/>
                </a:solidFill>
                <a:latin typeface="Calibri"/>
              </a:defRPr>
            </a:pPr>
            <a:r>
              <a:t>Agentic AI</a:t>
            </a:r>
          </a:p>
        </p:txBody>
      </p:sp>
      <p:sp>
        <p:nvSpPr>
          <p:cNvPr id="6" name="TextBox 5"/>
          <p:cNvSpPr txBox="1"/>
          <p:nvPr/>
        </p:nvSpPr>
        <p:spPr>
          <a:xfrm>
            <a:off x="731520" y="1828800"/>
            <a:ext cx="6400800" cy="914400"/>
          </a:xfrm>
          <a:prstGeom prst="rect">
            <a:avLst/>
          </a:prstGeom>
          <a:noFill/>
        </p:spPr>
        <p:txBody>
          <a:bodyPr wrap="square">
            <a:spAutoFit/>
          </a:bodyPr>
          <a:lstStyle/>
          <a:p>
            <a:pPr algn="l">
              <a:spcAft>
                <a:spcPts val="200"/>
              </a:spcAft>
              <a:defRPr sz="4000" b="1">
                <a:solidFill>
                  <a:srgbClr val="00C9A7"/>
                </a:solidFill>
                <a:latin typeface="Calibri"/>
              </a:defRPr>
            </a:pPr>
            <a:r>
              <a:t>Use Cases Across Industries</a:t>
            </a:r>
          </a:p>
        </p:txBody>
      </p:sp>
      <p:sp>
        <p:nvSpPr>
          <p:cNvPr id="7" name="Rectangle 6"/>
          <p:cNvSpPr/>
          <p:nvPr/>
        </p:nvSpPr>
        <p:spPr>
          <a:xfrm>
            <a:off x="731520" y="2834640"/>
            <a:ext cx="137160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108960"/>
            <a:ext cx="6400800" cy="457200"/>
          </a:xfrm>
          <a:prstGeom prst="rect">
            <a:avLst/>
          </a:prstGeom>
          <a:noFill/>
        </p:spPr>
        <p:txBody>
          <a:bodyPr wrap="square">
            <a:spAutoFit/>
          </a:bodyPr>
          <a:lstStyle/>
          <a:p>
            <a:pPr algn="l">
              <a:spcAft>
                <a:spcPts val="200"/>
              </a:spcAft>
              <a:defRPr sz="1800" b="0">
                <a:solidFill>
                  <a:srgbClr val="E0F7F1"/>
                </a:solidFill>
                <a:latin typeface="Calibri"/>
              </a:defRPr>
            </a:pPr>
            <a:r>
              <a:t>From Pilots to Production</a:t>
            </a:r>
          </a:p>
        </p:txBody>
      </p:sp>
      <p:sp>
        <p:nvSpPr>
          <p:cNvPr id="9" name="TextBox 8"/>
          <p:cNvSpPr txBox="1"/>
          <p:nvPr/>
        </p:nvSpPr>
        <p:spPr>
          <a:xfrm>
            <a:off x="731520" y="3566160"/>
            <a:ext cx="6400800" cy="457200"/>
          </a:xfrm>
          <a:prstGeom prst="rect">
            <a:avLst/>
          </a:prstGeom>
          <a:noFill/>
        </p:spPr>
        <p:txBody>
          <a:bodyPr wrap="square">
            <a:spAutoFit/>
          </a:bodyPr>
          <a:lstStyle/>
          <a:p>
            <a:pPr algn="l">
              <a:spcAft>
                <a:spcPts val="200"/>
              </a:spcAft>
              <a:defRPr sz="1400" b="0">
                <a:solidFill>
                  <a:srgbClr val="FFFFFF"/>
                </a:solidFill>
                <a:latin typeface="Calibri"/>
              </a:defRPr>
            </a:pPr>
            <a:r>
              <a:t>26 Real-World Deployments — Grounded by Healthcare IT, Data Platform &amp; AI Agents Experts</a:t>
            </a:r>
          </a:p>
        </p:txBody>
      </p:sp>
      <p:sp>
        <p:nvSpPr>
          <p:cNvPr id="10" name="TextBox 9"/>
          <p:cNvSpPr txBox="1"/>
          <p:nvPr/>
        </p:nvSpPr>
        <p:spPr>
          <a:xfrm>
            <a:off x="731520" y="3931920"/>
            <a:ext cx="6400800" cy="457200"/>
          </a:xfrm>
          <a:prstGeom prst="rect">
            <a:avLst/>
          </a:prstGeom>
          <a:noFill/>
        </p:spPr>
        <p:txBody>
          <a:bodyPr wrap="square">
            <a:spAutoFit/>
          </a:bodyPr>
          <a:lstStyle/>
          <a:p>
            <a:pPr algn="l">
              <a:spcAft>
                <a:spcPts val="200"/>
              </a:spcAft>
              <a:defRPr sz="1200" b="0">
                <a:solidFill>
                  <a:srgbClr val="88CCBB"/>
                </a:solidFill>
                <a:latin typeface="Calibri"/>
              </a:defRPr>
            </a:pPr>
            <a:r>
              <a:t>Across Insurance, Finance, Supply Chain, Manufacturing, Healthcare &amp; More</a:t>
            </a:r>
          </a:p>
        </p:txBody>
      </p:sp>
      <p:sp>
        <p:nvSpPr>
          <p:cNvPr id="11" name="Rectangle 10"/>
          <p:cNvSpPr/>
          <p:nvPr/>
        </p:nvSpPr>
        <p:spPr>
          <a:xfrm>
            <a:off x="7315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Insurance</a:t>
            </a:r>
          </a:p>
        </p:txBody>
      </p:sp>
      <p:sp>
        <p:nvSpPr>
          <p:cNvPr id="13" name="Rectangle 12"/>
          <p:cNvSpPr/>
          <p:nvPr/>
        </p:nvSpPr>
        <p:spPr>
          <a:xfrm>
            <a:off x="16459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Finance</a:t>
            </a:r>
          </a:p>
        </p:txBody>
      </p:sp>
      <p:sp>
        <p:nvSpPr>
          <p:cNvPr id="15" name="Rectangle 14"/>
          <p:cNvSpPr/>
          <p:nvPr/>
        </p:nvSpPr>
        <p:spPr>
          <a:xfrm>
            <a:off x="25603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Supply Chain</a:t>
            </a:r>
          </a:p>
        </p:txBody>
      </p:sp>
      <p:sp>
        <p:nvSpPr>
          <p:cNvPr id="17" name="Rectangle 16"/>
          <p:cNvSpPr/>
          <p:nvPr/>
        </p:nvSpPr>
        <p:spPr>
          <a:xfrm>
            <a:off x="34747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7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Manufacturing</a:t>
            </a:r>
          </a:p>
        </p:txBody>
      </p:sp>
      <p:sp>
        <p:nvSpPr>
          <p:cNvPr id="19" name="Rectangle 18"/>
          <p:cNvSpPr/>
          <p:nvPr/>
        </p:nvSpPr>
        <p:spPr>
          <a:xfrm>
            <a:off x="43891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Healthcare</a:t>
            </a:r>
          </a:p>
        </p:txBody>
      </p:sp>
      <p:sp>
        <p:nvSpPr>
          <p:cNvPr id="21" name="Rectangle 20"/>
          <p:cNvSpPr/>
          <p:nvPr/>
        </p:nvSpPr>
        <p:spPr>
          <a:xfrm>
            <a:off x="53035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Enterprise</a:t>
            </a:r>
          </a:p>
        </p:txBody>
      </p:sp>
      <p:sp>
        <p:nvSpPr>
          <p:cNvPr id="23" name="Rectangle 22"/>
          <p:cNvSpPr/>
          <p:nvPr/>
        </p:nvSpPr>
        <p:spPr>
          <a:xfrm>
            <a:off x="62179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Automotive</a:t>
            </a:r>
          </a:p>
        </p:txBody>
      </p:sp>
      <p:sp>
        <p:nvSpPr>
          <p:cNvPr id="25" name="Rectangle 24"/>
          <p:cNvSpPr/>
          <p:nvPr/>
        </p:nvSpPr>
        <p:spPr>
          <a:xfrm>
            <a:off x="71323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Technology</a:t>
            </a:r>
          </a:p>
        </p:txBody>
      </p:sp>
      <p:sp>
        <p:nvSpPr>
          <p:cNvPr id="27" name="TextBox 26"/>
          <p:cNvSpPr txBox="1"/>
          <p:nvPr/>
        </p:nvSpPr>
        <p:spPr>
          <a:xfrm>
            <a:off x="731520" y="5669280"/>
            <a:ext cx="3657600" cy="365760"/>
          </a:xfrm>
          <a:prstGeom prst="rect">
            <a:avLst/>
          </a:prstGeom>
          <a:noFill/>
        </p:spPr>
        <p:txBody>
          <a:bodyPr wrap="square">
            <a:spAutoFit/>
          </a:bodyPr>
          <a:lstStyle/>
          <a:p>
            <a:pPr algn="l">
              <a:spcAft>
                <a:spcPts val="200"/>
              </a:spcAft>
              <a:defRPr sz="1000" b="0">
                <a:solidFill>
                  <a:srgbClr val="888899"/>
                </a:solidFill>
                <a:latin typeface="Calibri"/>
              </a:defRPr>
            </a:pPr>
            <a:r>
              <a:t>May 2026 | Grounded by Domain Expert Agents with Real Code &amp; Data</a:t>
            </a:r>
          </a:p>
        </p:txBody>
      </p:sp>
      <p:sp>
        <p:nvSpPr>
          <p:cNvPr id="28" name="TextBox 2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29" name="TextBox 2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 / 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7436815" cy="457200"/>
          </a:xfrm>
          <a:prstGeom prst="rect">
            <a:avLst/>
          </a:prstGeom>
          <a:noFill/>
        </p:spPr>
        <p:txBody>
          <a:bodyPr wrap="square">
            <a:spAutoFit/>
          </a:bodyPr>
          <a:lstStyle/>
          <a:p>
            <a:pPr algn="l">
              <a:spcAft>
                <a:spcPts val="200"/>
              </a:spcAft>
              <a:defRPr sz="2600" b="1">
                <a:solidFill>
                  <a:srgbClr val="FFFFFF"/>
                </a:solidFill>
                <a:latin typeface="Calibri"/>
              </a:defRPr>
            </a:pPr>
            <a:r>
              <a:t>Workshop Agenda</a:t>
            </a:r>
          </a:p>
        </p:txBody>
      </p:sp>
      <p:sp>
        <p:nvSpPr>
          <p:cNvPr id="4" name="Rectangle 3"/>
          <p:cNvSpPr/>
          <p:nvPr/>
        </p:nvSpPr>
        <p:spPr>
          <a:xfrm>
            <a:off x="365760" y="73152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960120"/>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033272"/>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01</a:t>
            </a:r>
          </a:p>
        </p:txBody>
      </p:sp>
      <p:sp>
        <p:nvSpPr>
          <p:cNvPr id="7" name="TextBox 6"/>
          <p:cNvSpPr txBox="1"/>
          <p:nvPr/>
        </p:nvSpPr>
        <p:spPr>
          <a:xfrm>
            <a:off x="960120" y="987552"/>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AI Overview &amp; Strategic Direction</a:t>
            </a:r>
          </a:p>
        </p:txBody>
      </p:sp>
      <p:sp>
        <p:nvSpPr>
          <p:cNvPr id="8" name="TextBox 7"/>
          <p:cNvSpPr txBox="1"/>
          <p:nvPr/>
        </p:nvSpPr>
        <p:spPr>
          <a:xfrm>
            <a:off x="960120" y="1188720"/>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Foundations, agentic AI landscape, agent taxonomy, market positioning</a:t>
            </a:r>
          </a:p>
        </p:txBody>
      </p:sp>
      <p:sp>
        <p:nvSpPr>
          <p:cNvPr id="9" name="Rectangle 8"/>
          <p:cNvSpPr/>
          <p:nvPr/>
        </p:nvSpPr>
        <p:spPr>
          <a:xfrm>
            <a:off x="365760" y="1527048"/>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00200"/>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02</a:t>
            </a:r>
          </a:p>
        </p:txBody>
      </p:sp>
      <p:sp>
        <p:nvSpPr>
          <p:cNvPr id="11" name="TextBox 10"/>
          <p:cNvSpPr txBox="1"/>
          <p:nvPr/>
        </p:nvSpPr>
        <p:spPr>
          <a:xfrm>
            <a:off x="960120" y="1554480"/>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Core Capabilities &amp; AI Offerings</a:t>
            </a:r>
          </a:p>
        </p:txBody>
      </p:sp>
      <p:sp>
        <p:nvSpPr>
          <p:cNvPr id="12" name="TextBox 11"/>
          <p:cNvSpPr txBox="1"/>
          <p:nvPr/>
        </p:nvSpPr>
        <p:spPr>
          <a:xfrm>
            <a:off x="960120" y="1755648"/>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Solution portfolio, technology expertise, platform partnerships</a:t>
            </a:r>
          </a:p>
        </p:txBody>
      </p:sp>
      <p:sp>
        <p:nvSpPr>
          <p:cNvPr id="13" name="Rectangle 12"/>
          <p:cNvSpPr/>
          <p:nvPr/>
        </p:nvSpPr>
        <p:spPr>
          <a:xfrm>
            <a:off x="365760" y="2093976"/>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167128"/>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03</a:t>
            </a:r>
          </a:p>
        </p:txBody>
      </p:sp>
      <p:sp>
        <p:nvSpPr>
          <p:cNvPr id="15" name="TextBox 14"/>
          <p:cNvSpPr txBox="1"/>
          <p:nvPr/>
        </p:nvSpPr>
        <p:spPr>
          <a:xfrm>
            <a:off x="960120" y="2121408"/>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AI Use Cases &amp; Customer Value</a:t>
            </a:r>
          </a:p>
        </p:txBody>
      </p:sp>
      <p:sp>
        <p:nvSpPr>
          <p:cNvPr id="16" name="TextBox 15"/>
          <p:cNvSpPr txBox="1"/>
          <p:nvPr/>
        </p:nvSpPr>
        <p:spPr>
          <a:xfrm>
            <a:off x="960120" y="2322576"/>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26 use cases across 7 industries with measurable business outcomes</a:t>
            </a:r>
          </a:p>
        </p:txBody>
      </p:sp>
      <p:sp>
        <p:nvSpPr>
          <p:cNvPr id="17" name="Rectangle 16"/>
          <p:cNvSpPr/>
          <p:nvPr/>
        </p:nvSpPr>
        <p:spPr>
          <a:xfrm>
            <a:off x="365760" y="2660904"/>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734056"/>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04</a:t>
            </a:r>
          </a:p>
        </p:txBody>
      </p:sp>
      <p:sp>
        <p:nvSpPr>
          <p:cNvPr id="19" name="TextBox 18"/>
          <p:cNvSpPr txBox="1"/>
          <p:nvPr/>
        </p:nvSpPr>
        <p:spPr>
          <a:xfrm>
            <a:off x="960120" y="2688336"/>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Customer Pain Point Mapping</a:t>
            </a:r>
          </a:p>
        </p:txBody>
      </p:sp>
      <p:sp>
        <p:nvSpPr>
          <p:cNvPr id="20" name="TextBox 19"/>
          <p:cNvSpPr txBox="1"/>
          <p:nvPr/>
        </p:nvSpPr>
        <p:spPr>
          <a:xfrm>
            <a:off x="960120" y="2889504"/>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Mapping enterprise challenges to agentic AI solutions</a:t>
            </a:r>
          </a:p>
        </p:txBody>
      </p:sp>
      <p:sp>
        <p:nvSpPr>
          <p:cNvPr id="21" name="Rectangle 20"/>
          <p:cNvSpPr/>
          <p:nvPr/>
        </p:nvSpPr>
        <p:spPr>
          <a:xfrm>
            <a:off x="365760" y="3227832"/>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300984"/>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05</a:t>
            </a:r>
          </a:p>
        </p:txBody>
      </p:sp>
      <p:sp>
        <p:nvSpPr>
          <p:cNvPr id="23" name="TextBox 22"/>
          <p:cNvSpPr txBox="1"/>
          <p:nvPr/>
        </p:nvSpPr>
        <p:spPr>
          <a:xfrm>
            <a:off x="960120" y="3255264"/>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Success Stories &amp; ROI Narratives</a:t>
            </a:r>
          </a:p>
        </p:txBody>
      </p:sp>
      <p:sp>
        <p:nvSpPr>
          <p:cNvPr id="24" name="TextBox 23"/>
          <p:cNvSpPr txBox="1"/>
          <p:nvPr/>
        </p:nvSpPr>
        <p:spPr>
          <a:xfrm>
            <a:off x="960120" y="3456432"/>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Production-validated case studies with ROI metrics</a:t>
            </a:r>
          </a:p>
        </p:txBody>
      </p:sp>
      <p:sp>
        <p:nvSpPr>
          <p:cNvPr id="25" name="Rectangle 24"/>
          <p:cNvSpPr/>
          <p:nvPr/>
        </p:nvSpPr>
        <p:spPr>
          <a:xfrm>
            <a:off x="365760" y="3794760"/>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3867912"/>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06</a:t>
            </a:r>
          </a:p>
        </p:txBody>
      </p:sp>
      <p:sp>
        <p:nvSpPr>
          <p:cNvPr id="27" name="TextBox 26"/>
          <p:cNvSpPr txBox="1"/>
          <p:nvPr/>
        </p:nvSpPr>
        <p:spPr>
          <a:xfrm>
            <a:off x="960120" y="3822192"/>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Competitive Positioning</a:t>
            </a:r>
          </a:p>
        </p:txBody>
      </p:sp>
      <p:sp>
        <p:nvSpPr>
          <p:cNvPr id="28" name="TextBox 27"/>
          <p:cNvSpPr txBox="1"/>
          <p:nvPr/>
        </p:nvSpPr>
        <p:spPr>
          <a:xfrm>
            <a:off x="960120" y="4023360"/>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Differentiators, objection handling, why agentic vs. traditional</a:t>
            </a:r>
          </a:p>
        </p:txBody>
      </p:sp>
      <p:sp>
        <p:nvSpPr>
          <p:cNvPr id="29" name="Rectangle 28"/>
          <p:cNvSpPr/>
          <p:nvPr/>
        </p:nvSpPr>
        <p:spPr>
          <a:xfrm>
            <a:off x="365760" y="4361688"/>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434840"/>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07</a:t>
            </a:r>
          </a:p>
        </p:txBody>
      </p:sp>
      <p:sp>
        <p:nvSpPr>
          <p:cNvPr id="31" name="TextBox 30"/>
          <p:cNvSpPr txBox="1"/>
          <p:nvPr/>
        </p:nvSpPr>
        <p:spPr>
          <a:xfrm>
            <a:off x="960120" y="4389120"/>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Sales Enablement Assets</a:t>
            </a:r>
          </a:p>
        </p:txBody>
      </p:sp>
      <p:sp>
        <p:nvSpPr>
          <p:cNvPr id="32" name="TextBox 31"/>
          <p:cNvSpPr txBox="1"/>
          <p:nvPr/>
        </p:nvSpPr>
        <p:spPr>
          <a:xfrm>
            <a:off x="960120" y="4590288"/>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Decks, demos, one-pagers, reusable customer-facing collateral</a:t>
            </a:r>
          </a:p>
        </p:txBody>
      </p:sp>
      <p:sp>
        <p:nvSpPr>
          <p:cNvPr id="33" name="Rectangle 32"/>
          <p:cNvSpPr/>
          <p:nvPr/>
        </p:nvSpPr>
        <p:spPr>
          <a:xfrm>
            <a:off x="365760" y="4928616"/>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5001768"/>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08</a:t>
            </a:r>
          </a:p>
        </p:txBody>
      </p:sp>
      <p:sp>
        <p:nvSpPr>
          <p:cNvPr id="35" name="TextBox 34"/>
          <p:cNvSpPr txBox="1"/>
          <p:nvPr/>
        </p:nvSpPr>
        <p:spPr>
          <a:xfrm>
            <a:off x="960120" y="4956048"/>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Collaboration Model</a:t>
            </a:r>
          </a:p>
        </p:txBody>
      </p:sp>
      <p:sp>
        <p:nvSpPr>
          <p:cNvPr id="36" name="TextBox 35"/>
          <p:cNvSpPr txBox="1"/>
          <p:nvPr/>
        </p:nvSpPr>
        <p:spPr>
          <a:xfrm>
            <a:off x="960120" y="5157216"/>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Engagement model: Sales × Practice × Pre-sales alignment</a:t>
            </a:r>
          </a:p>
        </p:txBody>
      </p:sp>
      <p:sp>
        <p:nvSpPr>
          <p:cNvPr id="37" name="Rectangle 36"/>
          <p:cNvSpPr/>
          <p:nvPr/>
        </p:nvSpPr>
        <p:spPr>
          <a:xfrm>
            <a:off x="365760" y="5495544"/>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568696"/>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09</a:t>
            </a:r>
          </a:p>
        </p:txBody>
      </p:sp>
      <p:sp>
        <p:nvSpPr>
          <p:cNvPr id="39" name="TextBox 38"/>
          <p:cNvSpPr txBox="1"/>
          <p:nvPr/>
        </p:nvSpPr>
        <p:spPr>
          <a:xfrm>
            <a:off x="960120" y="5522976"/>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Pipeline &amp; Strategic Opportunities</a:t>
            </a:r>
          </a:p>
        </p:txBody>
      </p:sp>
      <p:sp>
        <p:nvSpPr>
          <p:cNvPr id="40" name="TextBox 39"/>
          <p:cNvSpPr txBox="1"/>
          <p:nvPr/>
        </p:nvSpPr>
        <p:spPr>
          <a:xfrm>
            <a:off x="960120" y="5724144"/>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Target accounts, strategic focus areas, growth opportunities</a:t>
            </a:r>
          </a:p>
        </p:txBody>
      </p:sp>
      <p:sp>
        <p:nvSpPr>
          <p:cNvPr id="41" name="TextBox 40"/>
          <p:cNvSpPr txBox="1"/>
          <p:nvPr/>
        </p:nvSpPr>
        <p:spPr>
          <a:xfrm>
            <a:off x="365760" y="6126480"/>
            <a:ext cx="6858000" cy="274320"/>
          </a:xfrm>
          <a:prstGeom prst="rect">
            <a:avLst/>
          </a:prstGeom>
          <a:noFill/>
        </p:spPr>
        <p:txBody>
          <a:bodyPr wrap="square">
            <a:spAutoFit/>
          </a:bodyPr>
          <a:lstStyle/>
          <a:p>
            <a:pPr algn="l">
              <a:spcAft>
                <a:spcPts val="200"/>
              </a:spcAft>
              <a:defRPr sz="700" b="1">
                <a:solidFill>
                  <a:srgbClr val="0A1628"/>
                </a:solidFill>
                <a:latin typeface="Calibri"/>
              </a:defRPr>
            </a:pPr>
            <a:r>
              <a:t>Objective: Improve sales readiness, strengthen customer positioning, enable proactive pipeline generation</a:t>
            </a:r>
          </a:p>
        </p:txBody>
      </p:sp>
      <p:pic>
        <p:nvPicPr>
          <p:cNvPr id="42" name="Picture 41" descr="image.jpg"/>
          <p:cNvPicPr>
            <a:picLocks noChangeAspect="1"/>
          </p:cNvPicPr>
          <p:nvPr/>
        </p:nvPicPr>
        <p:blipFill>
          <a:blip r:embed="rId2"/>
          <a:stretch>
            <a:fillRect/>
          </a:stretch>
        </p:blipFill>
        <p:spPr>
          <a:xfrm>
            <a:off x="8076895" y="0"/>
            <a:ext cx="4114800" cy="6858000"/>
          </a:xfrm>
          <a:prstGeom prst="rect">
            <a:avLst/>
          </a:prstGeom>
        </p:spPr>
      </p:pic>
      <p:sp>
        <p:nvSpPr>
          <p:cNvPr id="43" name="TextBox 42"/>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4" name="TextBox 43"/>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 / 46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What Is Agentic AI?</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DEFINITION</a:t>
            </a:r>
          </a:p>
        </p:txBody>
      </p:sp>
      <p:sp>
        <p:nvSpPr>
          <p:cNvPr id="6" name="TextBox 5"/>
          <p:cNvSpPr txBox="1"/>
          <p:nvPr/>
        </p:nvSpPr>
        <p:spPr>
          <a:xfrm>
            <a:off x="365760" y="960120"/>
            <a:ext cx="6858000" cy="822960"/>
          </a:xfrm>
          <a:prstGeom prst="rect">
            <a:avLst/>
          </a:prstGeom>
          <a:noFill/>
        </p:spPr>
        <p:txBody>
          <a:bodyPr wrap="square">
            <a:spAutoFit/>
          </a:bodyPr>
          <a:lstStyle/>
          <a:p>
            <a:pPr algn="l">
              <a:spcAft>
                <a:spcPts val="200"/>
              </a:spcAft>
              <a:defRPr sz="900" b="0">
                <a:solidFill>
                  <a:srgbClr val="0A1628"/>
                </a:solidFill>
                <a:latin typeface="Calibri"/>
              </a:defRPr>
            </a:pPr>
            <a:r>
              <a:t>Agentic AI systems autonomously execute multi-step tasks by combining LLM reasoning with tool use, memory, and planning. Unlike traditional AI that responds to prompts, agents perceive data, reason across business rules, make decisions, and take actions across enterprise systems — with human oversight at critical decision points.</a:t>
            </a:r>
          </a:p>
        </p:txBody>
      </p:sp>
      <p:sp>
        <p:nvSpPr>
          <p:cNvPr id="7" name="TextBox 6"/>
          <p:cNvSpPr txBox="1"/>
          <p:nvPr/>
        </p:nvSpPr>
        <p:spPr>
          <a:xfrm>
            <a:off x="365760" y="1920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TRADITIONAL AI</a:t>
            </a:r>
          </a:p>
        </p:txBody>
      </p:sp>
      <p:sp>
        <p:nvSpPr>
          <p:cNvPr id="8" name="TextBox 7"/>
          <p:cNvSpPr txBox="1"/>
          <p:nvPr/>
        </p:nvSpPr>
        <p:spPr>
          <a:xfrm>
            <a:off x="365760" y="2103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Single prompt → single response</a:t>
            </a:r>
            <a:br/>
            <a:r>
              <a:t>• No memory between interactions</a:t>
            </a:r>
            <a:br/>
            <a:r>
              <a:t>• Cannot use external tools or APIs</a:t>
            </a:r>
            <a:br/>
            <a:r>
              <a:t>• Human must orchestrate each step</a:t>
            </a:r>
            <a:br/>
            <a:r>
              <a:t>• Breaks on multi-step workflows</a:t>
            </a:r>
          </a:p>
        </p:txBody>
      </p:sp>
      <p:sp>
        <p:nvSpPr>
          <p:cNvPr id="9" name="TextBox 8"/>
          <p:cNvSpPr txBox="1"/>
          <p:nvPr/>
        </p:nvSpPr>
        <p:spPr>
          <a:xfrm>
            <a:off x="4023360" y="1920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AGENTIC AI</a:t>
            </a:r>
          </a:p>
        </p:txBody>
      </p:sp>
      <p:sp>
        <p:nvSpPr>
          <p:cNvPr id="10" name="TextBox 9"/>
          <p:cNvSpPr txBox="1"/>
          <p:nvPr/>
        </p:nvSpPr>
        <p:spPr>
          <a:xfrm>
            <a:off x="4023360" y="2103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Perceive → Reason → Plan → Act → Learn</a:t>
            </a:r>
            <a:br/>
            <a:r>
              <a:t>• Persistent memory across sessions</a:t>
            </a:r>
            <a:br/>
            <a:r>
              <a:t>• Tool use: APIs, databases, enterprise systems</a:t>
            </a:r>
            <a:br/>
            <a:r>
              <a:t>• Multi-agent orchestration and delegation</a:t>
            </a:r>
            <a:br/>
            <a:r>
              <a:t>• Autonomous multi-step workflow execution</a:t>
            </a:r>
          </a:p>
        </p:txBody>
      </p:sp>
      <p:sp>
        <p:nvSpPr>
          <p:cNvPr id="11" name="Rectangle 10"/>
          <p:cNvSpPr/>
          <p:nvPr/>
        </p:nvSpPr>
        <p:spPr>
          <a:xfrm>
            <a:off x="365760"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13" name="TextBox 12"/>
          <p:cNvSpPr txBox="1"/>
          <p:nvPr/>
        </p:nvSpPr>
        <p:spPr>
          <a:xfrm>
            <a:off x="365760"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Enterprises in</a:t>
            </a:r>
            <a:br/>
            <a:r>
              <a:t>production (2026)</a:t>
            </a:r>
          </a:p>
        </p:txBody>
      </p:sp>
      <p:sp>
        <p:nvSpPr>
          <p:cNvPr id="14" name="Rectangle 13"/>
          <p:cNvSpPr/>
          <p:nvPr/>
        </p:nvSpPr>
        <p:spPr>
          <a:xfrm>
            <a:off x="224027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4027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16" name="TextBox 15"/>
          <p:cNvSpPr txBox="1"/>
          <p:nvPr/>
        </p:nvSpPr>
        <p:spPr>
          <a:xfrm>
            <a:off x="224027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by 2030</a:t>
            </a:r>
            <a:br/>
            <a:r>
              <a:t>(Gartner)</a:t>
            </a:r>
          </a:p>
        </p:txBody>
      </p:sp>
      <p:sp>
        <p:nvSpPr>
          <p:cNvPr id="17" name="Rectangle 16"/>
          <p:cNvSpPr/>
          <p:nvPr/>
        </p:nvSpPr>
        <p:spPr>
          <a:xfrm>
            <a:off x="411479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79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80%</a:t>
            </a:r>
          </a:p>
        </p:txBody>
      </p:sp>
      <p:sp>
        <p:nvSpPr>
          <p:cNvPr id="19" name="TextBox 18"/>
          <p:cNvSpPr txBox="1"/>
          <p:nvPr/>
        </p:nvSpPr>
        <p:spPr>
          <a:xfrm>
            <a:off x="411479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 structured</a:t>
            </a:r>
            <a:br/>
            <a:r>
              <a:t>workflows</a:t>
            </a:r>
          </a:p>
        </p:txBody>
      </p:sp>
      <p:sp>
        <p:nvSpPr>
          <p:cNvPr id="20" name="Rectangle 19"/>
          <p:cNvSpPr/>
          <p:nvPr/>
        </p:nvSpPr>
        <p:spPr>
          <a:xfrm>
            <a:off x="598931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8931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26</a:t>
            </a:r>
          </a:p>
        </p:txBody>
      </p:sp>
      <p:sp>
        <p:nvSpPr>
          <p:cNvPr id="22" name="TextBox 21"/>
          <p:cNvSpPr txBox="1"/>
          <p:nvPr/>
        </p:nvSpPr>
        <p:spPr>
          <a:xfrm>
            <a:off x="598931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Domains with</a:t>
            </a:r>
            <a:br/>
            <a:r>
              <a:t>deployed agents</a:t>
            </a:r>
          </a:p>
        </p:txBody>
      </p:sp>
      <p:sp>
        <p:nvSpPr>
          <p:cNvPr id="23" name="Rectangle 22"/>
          <p:cNvSpPr/>
          <p:nvPr/>
        </p:nvSpPr>
        <p:spPr>
          <a:xfrm>
            <a:off x="274320" y="4754880"/>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479145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AGENTIC AI ARCHITECTURE</a:t>
            </a:r>
          </a:p>
        </p:txBody>
      </p:sp>
      <p:sp>
        <p:nvSpPr>
          <p:cNvPr id="25" name="TextBox 24"/>
          <p:cNvSpPr txBox="1"/>
          <p:nvPr/>
        </p:nvSpPr>
        <p:spPr>
          <a:xfrm>
            <a:off x="365760"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Perception</a:t>
            </a:r>
          </a:p>
        </p:txBody>
      </p:sp>
      <p:sp>
        <p:nvSpPr>
          <p:cNvPr id="26" name="TextBox 25"/>
          <p:cNvSpPr txBox="1"/>
          <p:nvPr/>
        </p:nvSpPr>
        <p:spPr>
          <a:xfrm>
            <a:off x="365760"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Ingest data from</a:t>
            </a:r>
            <a:br/>
            <a:r>
              <a:t>multiple sources</a:t>
            </a:r>
          </a:p>
        </p:txBody>
      </p:sp>
      <p:sp>
        <p:nvSpPr>
          <p:cNvPr id="27" name="TextBox 26"/>
          <p:cNvSpPr txBox="1"/>
          <p:nvPr/>
        </p:nvSpPr>
        <p:spPr>
          <a:xfrm>
            <a:off x="224027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Reasoning</a:t>
            </a:r>
          </a:p>
        </p:txBody>
      </p:sp>
      <p:sp>
        <p:nvSpPr>
          <p:cNvPr id="28" name="TextBox 27"/>
          <p:cNvSpPr txBox="1"/>
          <p:nvPr/>
        </p:nvSpPr>
        <p:spPr>
          <a:xfrm>
            <a:off x="224027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LLM-powered</a:t>
            </a:r>
            <a:br/>
            <a:r>
              <a:t>decision making</a:t>
            </a:r>
          </a:p>
        </p:txBody>
      </p:sp>
      <p:sp>
        <p:nvSpPr>
          <p:cNvPr id="29" name="TextBox 28"/>
          <p:cNvSpPr txBox="1"/>
          <p:nvPr/>
        </p:nvSpPr>
        <p:spPr>
          <a:xfrm>
            <a:off x="411479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Planning</a:t>
            </a:r>
          </a:p>
        </p:txBody>
      </p:sp>
      <p:sp>
        <p:nvSpPr>
          <p:cNvPr id="30" name="TextBox 29"/>
          <p:cNvSpPr txBox="1"/>
          <p:nvPr/>
        </p:nvSpPr>
        <p:spPr>
          <a:xfrm>
            <a:off x="411479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Decompose goals</a:t>
            </a:r>
            <a:br/>
            <a:r>
              <a:t>into sub-tasks</a:t>
            </a:r>
          </a:p>
        </p:txBody>
      </p:sp>
      <p:sp>
        <p:nvSpPr>
          <p:cNvPr id="31" name="TextBox 30"/>
          <p:cNvSpPr txBox="1"/>
          <p:nvPr/>
        </p:nvSpPr>
        <p:spPr>
          <a:xfrm>
            <a:off x="598931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Tool Use</a:t>
            </a:r>
          </a:p>
        </p:txBody>
      </p:sp>
      <p:sp>
        <p:nvSpPr>
          <p:cNvPr id="32" name="TextBox 31"/>
          <p:cNvSpPr txBox="1"/>
          <p:nvPr/>
        </p:nvSpPr>
        <p:spPr>
          <a:xfrm>
            <a:off x="598931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APIs, DBs, systems</a:t>
            </a:r>
            <a:br/>
            <a:r>
              <a:t>integration</a:t>
            </a:r>
          </a:p>
        </p:txBody>
      </p:sp>
      <p:sp>
        <p:nvSpPr>
          <p:cNvPr id="33" name="TextBox 32"/>
          <p:cNvSpPr txBox="1"/>
          <p:nvPr/>
        </p:nvSpPr>
        <p:spPr>
          <a:xfrm>
            <a:off x="365760" y="5852160"/>
            <a:ext cx="6400800" cy="274320"/>
          </a:xfrm>
          <a:prstGeom prst="rect">
            <a:avLst/>
          </a:prstGeom>
          <a:noFill/>
        </p:spPr>
        <p:txBody>
          <a:bodyPr wrap="square">
            <a:spAutoFit/>
          </a:bodyPr>
          <a:lstStyle/>
          <a:p>
            <a:pPr algn="l">
              <a:spcAft>
                <a:spcPts val="200"/>
              </a:spcAft>
              <a:defRPr sz="600" b="0">
                <a:solidFill>
                  <a:srgbClr val="666666"/>
                </a:solidFill>
                <a:latin typeface="Calibri"/>
              </a:defRPr>
            </a:pPr>
            <a:r>
              <a:t>Sources: arxiv.org/2512.04123 (Measuring Agents in Production, 2025), Gartner Agentic AI Forecast 2025</a:t>
            </a:r>
          </a:p>
        </p:txBody>
      </p:sp>
      <p:pic>
        <p:nvPicPr>
          <p:cNvPr id="34" name="Picture 33" descr="image.jpg"/>
          <p:cNvPicPr>
            <a:picLocks noChangeAspect="1"/>
          </p:cNvPicPr>
          <p:nvPr/>
        </p:nvPicPr>
        <p:blipFill>
          <a:blip r:embed="rId2"/>
          <a:stretch>
            <a:fillRect/>
          </a:stretch>
        </p:blipFill>
        <p:spPr>
          <a:xfrm>
            <a:off x="8076895" y="0"/>
            <a:ext cx="4114800" cy="6858000"/>
          </a:xfrm>
          <a:prstGeom prst="rect">
            <a:avLst/>
          </a:prstGeom>
        </p:spPr>
      </p:pic>
      <p:sp>
        <p:nvSpPr>
          <p:cNvPr id="35" name="TextBox 34"/>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36" name="TextBox 35"/>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 / 46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Agent Taxonomy — 6 Types of Enterprise AI Agents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82296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89611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Customer Agents</a:t>
            </a:r>
          </a:p>
        </p:txBody>
      </p:sp>
      <p:sp>
        <p:nvSpPr>
          <p:cNvPr id="7" name="TextBox 6"/>
          <p:cNvSpPr txBox="1"/>
          <p:nvPr/>
        </p:nvSpPr>
        <p:spPr>
          <a:xfrm>
            <a:off x="502920" y="117043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Engage customers across channels — virtual assistants, chatbots, personalized recommendations. Handle tier-1 queries autonomously with 40-60% deflection rates.</a:t>
            </a:r>
          </a:p>
        </p:txBody>
      </p:sp>
      <p:sp>
        <p:nvSpPr>
          <p:cNvPr id="8" name="TextBox 7"/>
          <p:cNvSpPr txBox="1"/>
          <p:nvPr/>
        </p:nvSpPr>
        <p:spPr>
          <a:xfrm>
            <a:off x="502920" y="187452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Wells Fargo, Allianz, Mercedes-Benz, Discover Financial</a:t>
            </a:r>
          </a:p>
        </p:txBody>
      </p:sp>
      <p:sp>
        <p:nvSpPr>
          <p:cNvPr id="9" name="Rectangle 8"/>
          <p:cNvSpPr/>
          <p:nvPr/>
        </p:nvSpPr>
        <p:spPr>
          <a:xfrm>
            <a:off x="4114799" y="82296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59" y="89611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Employee Agents</a:t>
            </a:r>
          </a:p>
        </p:txBody>
      </p:sp>
      <p:sp>
        <p:nvSpPr>
          <p:cNvPr id="11" name="TextBox 10"/>
          <p:cNvSpPr txBox="1"/>
          <p:nvPr/>
        </p:nvSpPr>
        <p:spPr>
          <a:xfrm>
            <a:off x="4251959" y="117043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Augment workforce productivity — HR automation, knowledge search, document processing, training. Enable 2.5x capacity per employee.</a:t>
            </a:r>
          </a:p>
        </p:txBody>
      </p:sp>
      <p:sp>
        <p:nvSpPr>
          <p:cNvPr id="12" name="TextBox 11"/>
          <p:cNvSpPr txBox="1"/>
          <p:nvPr/>
        </p:nvSpPr>
        <p:spPr>
          <a:xfrm>
            <a:off x="4251959" y="187452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ServiceNow (90% IT tickets), Cognizant (350K users), UKG Bryte</a:t>
            </a:r>
          </a:p>
        </p:txBody>
      </p:sp>
      <p:sp>
        <p:nvSpPr>
          <p:cNvPr id="13" name="Rectangle 12"/>
          <p:cNvSpPr/>
          <p:nvPr/>
        </p:nvSpPr>
        <p:spPr>
          <a:xfrm>
            <a:off x="365760" y="256032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63347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Code Agents</a:t>
            </a:r>
          </a:p>
        </p:txBody>
      </p:sp>
      <p:sp>
        <p:nvSpPr>
          <p:cNvPr id="15" name="TextBox 14"/>
          <p:cNvSpPr txBox="1"/>
          <p:nvPr/>
        </p:nvSpPr>
        <p:spPr>
          <a:xfrm>
            <a:off x="502920" y="290779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Accelerate software development — code generation, review, testing, ticket-to-code automation. 30-50% developer productivity gains.</a:t>
            </a:r>
          </a:p>
        </p:txBody>
      </p:sp>
      <p:sp>
        <p:nvSpPr>
          <p:cNvPr id="16" name="TextBox 15"/>
          <p:cNvSpPr txBox="1"/>
          <p:nvPr/>
        </p:nvSpPr>
        <p:spPr>
          <a:xfrm>
            <a:off x="502920" y="361188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Regnology, Wayfair (55% faster), Turing, Broadcom</a:t>
            </a:r>
          </a:p>
        </p:txBody>
      </p:sp>
      <p:sp>
        <p:nvSpPr>
          <p:cNvPr id="17" name="Rectangle 16"/>
          <p:cNvSpPr/>
          <p:nvPr/>
        </p:nvSpPr>
        <p:spPr>
          <a:xfrm>
            <a:off x="4114799" y="256032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59" y="263347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Creative Agents</a:t>
            </a:r>
          </a:p>
        </p:txBody>
      </p:sp>
      <p:sp>
        <p:nvSpPr>
          <p:cNvPr id="19" name="TextBox 18"/>
          <p:cNvSpPr txBox="1"/>
          <p:nvPr/>
        </p:nvSpPr>
        <p:spPr>
          <a:xfrm>
            <a:off x="4251959" y="290779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Generate marketing content at scale — ad copy, images, video, personalized campaigns. Reduce campaign creation from weeks to hours.</a:t>
            </a:r>
          </a:p>
        </p:txBody>
      </p:sp>
      <p:sp>
        <p:nvSpPr>
          <p:cNvPr id="20" name="TextBox 19"/>
          <p:cNvSpPr txBox="1"/>
          <p:nvPr/>
        </p:nvSpPr>
        <p:spPr>
          <a:xfrm>
            <a:off x="4251959" y="361188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Kraft Heinz (8 weeks → 8 hours), WPP, Adobe, Canva</a:t>
            </a:r>
          </a:p>
        </p:txBody>
      </p:sp>
      <p:sp>
        <p:nvSpPr>
          <p:cNvPr id="21" name="Rectangle 20"/>
          <p:cNvSpPr/>
          <p:nvPr/>
        </p:nvSpPr>
        <p:spPr>
          <a:xfrm>
            <a:off x="365760" y="429768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437083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Data Agents</a:t>
            </a:r>
          </a:p>
        </p:txBody>
      </p:sp>
      <p:sp>
        <p:nvSpPr>
          <p:cNvPr id="23" name="TextBox 22"/>
          <p:cNvSpPr txBox="1"/>
          <p:nvPr/>
        </p:nvSpPr>
        <p:spPr>
          <a:xfrm>
            <a:off x="502920" y="464515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Analyze and synthesize enterprise data — digital twins, supply chain intelligence, financial research, root cause analysis.</a:t>
            </a:r>
          </a:p>
        </p:txBody>
      </p:sp>
      <p:sp>
        <p:nvSpPr>
          <p:cNvPr id="24" name="TextBox 23"/>
          <p:cNvSpPr txBox="1"/>
          <p:nvPr/>
        </p:nvSpPr>
        <p:spPr>
          <a:xfrm>
            <a:off x="502920" y="534924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BMW (digital twins), Schroders, Apollo Tyres, Geotab</a:t>
            </a:r>
          </a:p>
        </p:txBody>
      </p:sp>
      <p:sp>
        <p:nvSpPr>
          <p:cNvPr id="25" name="Rectangle 24"/>
          <p:cNvSpPr/>
          <p:nvPr/>
        </p:nvSpPr>
        <p:spPr>
          <a:xfrm>
            <a:off x="4114799" y="429768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59" y="437083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Security Agents</a:t>
            </a:r>
          </a:p>
        </p:txBody>
      </p:sp>
      <p:sp>
        <p:nvSpPr>
          <p:cNvPr id="27" name="TextBox 26"/>
          <p:cNvSpPr txBox="1"/>
          <p:nvPr/>
        </p:nvSpPr>
        <p:spPr>
          <a:xfrm>
            <a:off x="4251959" y="464515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Detect threats, enforce compliance, manage incidents — automated triage, anomaly detection, regulatory monitoring, audit trails.</a:t>
            </a:r>
          </a:p>
        </p:txBody>
      </p:sp>
      <p:sp>
        <p:nvSpPr>
          <p:cNvPr id="28" name="TextBox 27"/>
          <p:cNvSpPr txBox="1"/>
          <p:nvPr/>
        </p:nvSpPr>
        <p:spPr>
          <a:xfrm>
            <a:off x="4251959" y="534924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POLARIS (governed AI), ServiceNow Agent Command Center</a:t>
            </a:r>
          </a:p>
        </p:txBody>
      </p:sp>
      <p:sp>
        <p:nvSpPr>
          <p:cNvPr id="29" name="TextBox 28"/>
          <p:cNvSpPr txBox="1"/>
          <p:nvPr/>
        </p:nvSpPr>
        <p:spPr>
          <a:xfrm>
            <a:off x="365760" y="6035040"/>
            <a:ext cx="6400800" cy="274320"/>
          </a:xfrm>
          <a:prstGeom prst="rect">
            <a:avLst/>
          </a:prstGeom>
          <a:noFill/>
        </p:spPr>
        <p:txBody>
          <a:bodyPr wrap="square">
            <a:spAutoFit/>
          </a:bodyPr>
          <a:lstStyle/>
          <a:p>
            <a:pPr algn="l">
              <a:spcAft>
                <a:spcPts val="200"/>
              </a:spcAft>
              <a:defRPr sz="600" b="0">
                <a:solidFill>
                  <a:srgbClr val="666666"/>
                </a:solidFill>
                <a:latin typeface="Calibri"/>
              </a:defRPr>
            </a:pPr>
            <a:r>
              <a:t>Source: Google Cloud — 601 GenAI Agent Use Cases (Matt Renner, Brian Hall, 2024-2025)</a:t>
            </a:r>
          </a:p>
        </p:txBody>
      </p:sp>
      <p:pic>
        <p:nvPicPr>
          <p:cNvPr id="30" name="Picture 29" descr="image.jpg"/>
          <p:cNvPicPr>
            <a:picLocks noChangeAspect="1"/>
          </p:cNvPicPr>
          <p:nvPr/>
        </p:nvPicPr>
        <p:blipFill>
          <a:blip r:embed="rId2"/>
          <a:stretch>
            <a:fillRect/>
          </a:stretch>
        </p:blipFill>
        <p:spPr>
          <a:xfrm>
            <a:off x="8076895" y="0"/>
            <a:ext cx="4114800" cy="6858000"/>
          </a:xfrm>
          <a:prstGeom prst="rect">
            <a:avLst/>
          </a:prstGeom>
        </p:spPr>
      </p:pic>
      <p:sp>
        <p:nvSpPr>
          <p:cNvPr id="31" name="TextBox 3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32" name="TextBox 3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 / 46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Core Capabilities &amp; AI Offerings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SOLUTION PORTFOLIO</a:t>
            </a:r>
          </a:p>
        </p:txBody>
      </p:sp>
      <p:sp>
        <p:nvSpPr>
          <p:cNvPr id="6" name="TextBox 5"/>
          <p:cNvSpPr txBox="1"/>
          <p:nvPr/>
        </p:nvSpPr>
        <p:spPr>
          <a:xfrm>
            <a:off x="365760" y="1005840"/>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Agentic Process Automation</a:t>
            </a:r>
          </a:p>
        </p:txBody>
      </p:sp>
      <p:sp>
        <p:nvSpPr>
          <p:cNvPr id="7" name="TextBox 6"/>
          <p:cNvSpPr txBox="1"/>
          <p:nvPr/>
        </p:nvSpPr>
        <p:spPr>
          <a:xfrm>
            <a:off x="548640" y="1207008"/>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Multi-agent pipelines for claims, underwriting, document processing. Structured workflows with human-in-the-loop gates. 70-80% autonomous resolution rates.</a:t>
            </a:r>
          </a:p>
        </p:txBody>
      </p:sp>
      <p:sp>
        <p:nvSpPr>
          <p:cNvPr id="8" name="TextBox 7"/>
          <p:cNvSpPr txBox="1"/>
          <p:nvPr/>
        </p:nvSpPr>
        <p:spPr>
          <a:xfrm>
            <a:off x="365760" y="1664208"/>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Intelligent Control Towers</a:t>
            </a:r>
          </a:p>
        </p:txBody>
      </p:sp>
      <p:sp>
        <p:nvSpPr>
          <p:cNvPr id="9" name="TextBox 8"/>
          <p:cNvSpPr txBox="1"/>
          <p:nvPr/>
        </p:nvSpPr>
        <p:spPr>
          <a:xfrm>
            <a:off x="548640" y="1865376"/>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Real-time monitoring across supply chain, manufacturing, logistics. Predictive exception detection + autonomous resolution. RAG over historical data for pattern matching.</a:t>
            </a:r>
          </a:p>
        </p:txBody>
      </p:sp>
      <p:sp>
        <p:nvSpPr>
          <p:cNvPr id="10" name="TextBox 9"/>
          <p:cNvSpPr txBox="1"/>
          <p:nvPr/>
        </p:nvSpPr>
        <p:spPr>
          <a:xfrm>
            <a:off x="365760" y="2322576"/>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Enterprise AI Agent Platforms</a:t>
            </a:r>
          </a:p>
        </p:txBody>
      </p:sp>
      <p:sp>
        <p:nvSpPr>
          <p:cNvPr id="11" name="TextBox 10"/>
          <p:cNvSpPr txBox="1"/>
          <p:nvPr/>
        </p:nvSpPr>
        <p:spPr>
          <a:xfrm>
            <a:off x="548640" y="2523744"/>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Unified digital front door for employee self-service. Multi-agent orchestration (neuro-san, LangGraph, Bedrock). Scale to 350K+ users on single platform.</a:t>
            </a:r>
          </a:p>
        </p:txBody>
      </p:sp>
      <p:sp>
        <p:nvSpPr>
          <p:cNvPr id="12" name="TextBox 11"/>
          <p:cNvSpPr txBox="1"/>
          <p:nvPr/>
        </p:nvSpPr>
        <p:spPr>
          <a:xfrm>
            <a:off x="365760" y="2980944"/>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AI-Powered Code &amp; Dev Agents</a:t>
            </a:r>
          </a:p>
        </p:txBody>
      </p:sp>
      <p:sp>
        <p:nvSpPr>
          <p:cNvPr id="13" name="TextBox 12"/>
          <p:cNvSpPr txBox="1"/>
          <p:nvPr/>
        </p:nvSpPr>
        <p:spPr>
          <a:xfrm>
            <a:off x="548640" y="3182112"/>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Ticket-to-code automation, code review, test generation. Codebase-aware agents customized to org standards. 30-50% developer productivity gains.</a:t>
            </a:r>
          </a:p>
        </p:txBody>
      </p:sp>
      <p:sp>
        <p:nvSpPr>
          <p:cNvPr id="14" name="TextBox 13"/>
          <p:cNvSpPr txBox="1"/>
          <p:nvPr/>
        </p:nvSpPr>
        <p:spPr>
          <a:xfrm>
            <a:off x="365760" y="3639312"/>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Clinical &amp; Scientific AI Agents</a:t>
            </a:r>
          </a:p>
        </p:txBody>
      </p:sp>
      <p:sp>
        <p:nvSpPr>
          <p:cNvPr id="15" name="TextBox 14"/>
          <p:cNvSpPr txBox="1"/>
          <p:nvPr/>
        </p:nvSpPr>
        <p:spPr>
          <a:xfrm>
            <a:off x="548640" y="3840480"/>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Multi-step therapeutic reasoning with 211+ biomedical tools. Drug discovery DMTA cycle automation. Autonomous clinical note analysis approaching expert performance.</a:t>
            </a:r>
          </a:p>
        </p:txBody>
      </p:sp>
      <p:sp>
        <p:nvSpPr>
          <p:cNvPr id="16" name="Rectangle 15"/>
          <p:cNvSpPr/>
          <p:nvPr/>
        </p:nvSpPr>
        <p:spPr>
          <a:xfrm>
            <a:off x="274320" y="443484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471416"/>
            <a:ext cx="2743200" cy="164592"/>
          </a:xfrm>
          <a:prstGeom prst="rect">
            <a:avLst/>
          </a:prstGeom>
          <a:noFill/>
        </p:spPr>
        <p:txBody>
          <a:bodyPr wrap="square">
            <a:spAutoFit/>
          </a:bodyPr>
          <a:lstStyle/>
          <a:p>
            <a:pPr algn="l">
              <a:spcAft>
                <a:spcPts val="200"/>
              </a:spcAft>
              <a:defRPr sz="750" b="1">
                <a:solidFill>
                  <a:srgbClr val="00C9A7"/>
                </a:solidFill>
                <a:latin typeface="Calibri"/>
              </a:defRPr>
            </a:pPr>
            <a:r>
              <a:t>TECHNOLOGY PARTNERSHIPS &amp; PLATFORMS</a:t>
            </a:r>
          </a:p>
        </p:txBody>
      </p:sp>
      <p:sp>
        <p:nvSpPr>
          <p:cNvPr id="18" name="TextBox 17"/>
          <p:cNvSpPr txBox="1"/>
          <p:nvPr/>
        </p:nvSpPr>
        <p:spPr>
          <a:xfrm>
            <a:off x="365760"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Cloud &amp; AI</a:t>
            </a:r>
          </a:p>
        </p:txBody>
      </p:sp>
      <p:sp>
        <p:nvSpPr>
          <p:cNvPr id="19" name="TextBox 18"/>
          <p:cNvSpPr txBox="1"/>
          <p:nvPr/>
        </p:nvSpPr>
        <p:spPr>
          <a:xfrm>
            <a:off x="365760"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Vertex AI</a:t>
            </a:r>
            <a:br/>
            <a:r>
              <a:t>AWS Bedrock</a:t>
            </a:r>
            <a:br/>
            <a:r>
              <a:t>Azure OpenAI</a:t>
            </a:r>
          </a:p>
        </p:txBody>
      </p:sp>
      <p:sp>
        <p:nvSpPr>
          <p:cNvPr id="20" name="TextBox 19"/>
          <p:cNvSpPr txBox="1"/>
          <p:nvPr/>
        </p:nvSpPr>
        <p:spPr>
          <a:xfrm>
            <a:off x="224027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21" name="TextBox 20"/>
          <p:cNvSpPr txBox="1"/>
          <p:nvPr/>
        </p:nvSpPr>
        <p:spPr>
          <a:xfrm>
            <a:off x="224027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 / LangGraph</a:t>
            </a:r>
            <a:br/>
            <a:r>
              <a:t>CrewAI / Autogen</a:t>
            </a:r>
            <a:br/>
            <a:r>
              <a:t>IBM watsonx</a:t>
            </a:r>
          </a:p>
        </p:txBody>
      </p:sp>
      <p:sp>
        <p:nvSpPr>
          <p:cNvPr id="22" name="TextBox 21"/>
          <p:cNvSpPr txBox="1"/>
          <p:nvPr/>
        </p:nvSpPr>
        <p:spPr>
          <a:xfrm>
            <a:off x="411479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Models</a:t>
            </a:r>
          </a:p>
        </p:txBody>
      </p:sp>
      <p:sp>
        <p:nvSpPr>
          <p:cNvPr id="23" name="TextBox 22"/>
          <p:cNvSpPr txBox="1"/>
          <p:nvPr/>
        </p:nvSpPr>
        <p:spPr>
          <a:xfrm>
            <a:off x="411479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 Claude</a:t>
            </a:r>
            <a:br/>
            <a:r>
              <a:t>GPT-4o / Llama 3</a:t>
            </a:r>
            <a:br/>
            <a:r>
              <a:t>Domain-specific fine-tunes</a:t>
            </a:r>
          </a:p>
        </p:txBody>
      </p:sp>
      <p:sp>
        <p:nvSpPr>
          <p:cNvPr id="24" name="TextBox 23"/>
          <p:cNvSpPr txBox="1"/>
          <p:nvPr/>
        </p:nvSpPr>
        <p:spPr>
          <a:xfrm>
            <a:off x="598931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Enterprise</a:t>
            </a:r>
          </a:p>
        </p:txBody>
      </p:sp>
      <p:sp>
        <p:nvSpPr>
          <p:cNvPr id="25" name="TextBox 24"/>
          <p:cNvSpPr txBox="1"/>
          <p:nvPr/>
        </p:nvSpPr>
        <p:spPr>
          <a:xfrm>
            <a:off x="598931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 / SAP</a:t>
            </a:r>
            <a:br/>
            <a:r>
              <a:t>Salesforce / UiPath</a:t>
            </a:r>
            <a:br/>
            <a:r>
              <a:t>HubSpot / Workday</a:t>
            </a:r>
          </a:p>
        </p:txBody>
      </p:sp>
      <p:sp>
        <p:nvSpPr>
          <p:cNvPr id="26" name="Rectangle 25"/>
          <p:cNvSpPr/>
          <p:nvPr/>
        </p:nvSpPr>
        <p:spPr>
          <a:xfrm>
            <a:off x="274320" y="5394960"/>
            <a:ext cx="7619695" cy="7772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5431536"/>
            <a:ext cx="2743200" cy="164592"/>
          </a:xfrm>
          <a:prstGeom prst="rect">
            <a:avLst/>
          </a:prstGeom>
          <a:noFill/>
        </p:spPr>
        <p:txBody>
          <a:bodyPr wrap="square">
            <a:spAutoFit/>
          </a:bodyPr>
          <a:lstStyle/>
          <a:p>
            <a:pPr algn="l">
              <a:spcAft>
                <a:spcPts val="200"/>
              </a:spcAft>
              <a:defRPr sz="750" b="1">
                <a:solidFill>
                  <a:srgbClr val="FFFFFF"/>
                </a:solidFill>
                <a:latin typeface="Calibri"/>
              </a:defRPr>
            </a:pPr>
            <a:r>
              <a:t>KEY DIFFERENTIATORS</a:t>
            </a:r>
          </a:p>
        </p:txBody>
      </p:sp>
      <p:sp>
        <p:nvSpPr>
          <p:cNvPr id="28" name="TextBox 27"/>
          <p:cNvSpPr txBox="1"/>
          <p:nvPr/>
        </p:nvSpPr>
        <p:spPr>
          <a:xfrm>
            <a:off x="365760"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Production-First</a:t>
            </a:r>
          </a:p>
        </p:txBody>
      </p:sp>
      <p:sp>
        <p:nvSpPr>
          <p:cNvPr id="29" name="TextBox 28"/>
          <p:cNvSpPr txBox="1"/>
          <p:nvPr/>
        </p:nvSpPr>
        <p:spPr>
          <a:xfrm>
            <a:off x="365760"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80% of our agents use</a:t>
            </a:r>
            <a:br/>
            <a:r>
              <a:t>structured workflows</a:t>
            </a:r>
            <a:br/>
            <a:r>
              <a:t>not open-ended planning</a:t>
            </a:r>
          </a:p>
        </p:txBody>
      </p:sp>
      <p:sp>
        <p:nvSpPr>
          <p:cNvPr id="30" name="TextBox 29"/>
          <p:cNvSpPr txBox="1"/>
          <p:nvPr/>
        </p:nvSpPr>
        <p:spPr>
          <a:xfrm>
            <a:off x="224027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Governance-Native</a:t>
            </a:r>
          </a:p>
        </p:txBody>
      </p:sp>
      <p:sp>
        <p:nvSpPr>
          <p:cNvPr id="31" name="TextBox 30"/>
          <p:cNvSpPr txBox="1"/>
          <p:nvPr/>
        </p:nvSpPr>
        <p:spPr>
          <a:xfrm>
            <a:off x="224027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Audit trails, policy</a:t>
            </a:r>
            <a:br/>
            <a:r>
              <a:t>guardrails, token cost</a:t>
            </a:r>
            <a:br/>
            <a:r>
              <a:t>management built-in</a:t>
            </a:r>
          </a:p>
        </p:txBody>
      </p:sp>
      <p:sp>
        <p:nvSpPr>
          <p:cNvPr id="32" name="TextBox 31"/>
          <p:cNvSpPr txBox="1"/>
          <p:nvPr/>
        </p:nvSpPr>
        <p:spPr>
          <a:xfrm>
            <a:off x="411479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Human-in-the-Loop</a:t>
            </a:r>
          </a:p>
        </p:txBody>
      </p:sp>
      <p:sp>
        <p:nvSpPr>
          <p:cNvPr id="33" name="TextBox 32"/>
          <p:cNvSpPr txBox="1"/>
          <p:nvPr/>
        </p:nvSpPr>
        <p:spPr>
          <a:xfrm>
            <a:off x="411479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Confidence thresholds</a:t>
            </a:r>
            <a:br/>
            <a:r>
              <a:t>gate autonomous actions</a:t>
            </a:r>
            <a:br/>
            <a:r>
              <a:t>for enterprise trust</a:t>
            </a:r>
          </a:p>
        </p:txBody>
      </p:sp>
      <p:sp>
        <p:nvSpPr>
          <p:cNvPr id="34" name="TextBox 33"/>
          <p:cNvSpPr txBox="1"/>
          <p:nvPr/>
        </p:nvSpPr>
        <p:spPr>
          <a:xfrm>
            <a:off x="598931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Domain-Specific</a:t>
            </a:r>
          </a:p>
        </p:txBody>
      </p:sp>
      <p:sp>
        <p:nvSpPr>
          <p:cNvPr id="35" name="TextBox 34"/>
          <p:cNvSpPr txBox="1"/>
          <p:nvPr/>
        </p:nvSpPr>
        <p:spPr>
          <a:xfrm>
            <a:off x="598931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Industry-tuned agents</a:t>
            </a:r>
            <a:br/>
            <a:r>
              <a:t>not generic chatbots</a:t>
            </a:r>
            <a:br/>
            <a:r>
              <a:t>with real system access</a:t>
            </a:r>
          </a:p>
        </p:txBody>
      </p:sp>
      <p:pic>
        <p:nvPicPr>
          <p:cNvPr id="36" name="Picture 35" descr="image.jpg"/>
          <p:cNvPicPr>
            <a:picLocks noChangeAspect="1"/>
          </p:cNvPicPr>
          <p:nvPr/>
        </p:nvPicPr>
        <p:blipFill>
          <a:blip r:embed="rId2"/>
          <a:stretch>
            <a:fillRect/>
          </a:stretch>
        </p:blipFill>
        <p:spPr>
          <a:xfrm>
            <a:off x="8076895" y="0"/>
            <a:ext cx="4114800" cy="6858000"/>
          </a:xfrm>
          <a:prstGeom prst="rect">
            <a:avLst/>
          </a:prstGeom>
        </p:spPr>
      </p:pic>
      <p:sp>
        <p:nvSpPr>
          <p:cNvPr id="37" name="TextBox 36"/>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38" name="TextBox 37"/>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5 / 46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01</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Insurance &amp; Claims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Autonomous claims processing, underwriting, and fraud detection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5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6 / 46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UC01 | Allianz Partners — Autonomous Claims Execution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90M+ cases/year across health, automotive, and travel insurance</a:t>
            </a:r>
            <a:br/>
            <a:r>
              <a:t>• Single claim took 29 days to resolve end-to-end</a:t>
            </a:r>
            <a:br/>
            <a:r>
              <a:t>• Dozens of disconnected systems per claim lifecycle</a:t>
            </a:r>
            <a:br/>
            <a:r>
              <a:t>• Operating model scaled linearly: more cases = more people</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Autonomous agents run full claims lifecycle end-to-end</a:t>
            </a:r>
            <a:br/>
            <a:r>
              <a:t>• Agents review claims, validate coverage, assess liability, settle cases</a:t>
            </a:r>
            <a:br/>
            <a:r>
              <a:t>• Generate customer responses and trigger payments automatically</a:t>
            </a:r>
            <a:br/>
            <a:r>
              <a:t>• Complex cases escalate to human specialists; routine claims don't</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29d → 3.5d</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handling</a:t>
            </a:r>
            <a:br/>
            <a:r>
              <a:t>time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70%</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settled</a:t>
            </a:r>
            <a:br/>
            <a:r>
              <a:t>in &lt;12 hours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€300M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Target incremental</a:t>
            </a:r>
            <a:br/>
            <a:r>
              <a:t>annual profit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 markets</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Global rollout</a:t>
            </a:r>
            <a:br/>
            <a:r>
              <a:t>already live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claim from any channel (email, portal, phone transcript)</a:t>
            </a:r>
            <a:br/>
            <a:r>
              <a:t>→ Validate coverage against policy terms and assess liability</a:t>
            </a:r>
            <a:br/>
            <a:r>
              <a:t>→ Settle straightforward claims autonomously; escalate complex ones</a:t>
            </a:r>
            <a:br/>
            <a:r>
              <a:t>→ Generate personalized customer response and trigger payment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HL7v2 270/271 insurance verification: 2.3s avg latency, 94% auto-verify rate</a:t>
            </a:r>
            <a:br/>
            <a:r>
              <a:t>• Multi-agent pipeline: intake → coverage → liability → settlement → comms</a:t>
            </a:r>
            <a:br/>
            <a:r>
              <a:t>• Same pattern as hospital ESI triage: severity maps to auto-processing tiers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Every decision auditable with complete reasoning chain</a:t>
            </a:r>
            <a:br/>
            <a:r>
              <a:t>• ESI severity mapping: Level 1 (critical/immediate), Level 3 (standard/SLA), Level 5 (auto-process)</a:t>
            </a:r>
            <a:br/>
            <a:r>
              <a:t>• Human specialists handle complex/ambiguous claims (6% manual review)</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Otera Autonomous</a:t>
            </a:r>
            <a:br/>
            <a:r>
              <a:t>AI 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Health, Auto, Travel</a:t>
            </a:r>
            <a:br/>
            <a:r>
              <a:t>Insurance claims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90M+ cases/year</a:t>
            </a:r>
            <a:br/>
            <a:r>
              <a:t>across 10+ markets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16,500 provider</a:t>
            </a:r>
            <a:br/>
            <a:r>
              <a:t>network invoices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7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UC02 | AIG — Agentic Underwriting Ecosystem</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370,000+ excess and surplus submissions to process in 2025</a:t>
            </a:r>
            <a:br/>
            <a:r>
              <a:t>• Sequential department handoffs created bottlenecks</a:t>
            </a:r>
            <a:br/>
            <a:r>
              <a:t>• Underwriters spent time on low-conversion submissions</a:t>
            </a:r>
            <a:br/>
            <a:r>
              <a:t>• No mechanism to predict which submissions would convert</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Coordinated system of autonomous agents working in parallel</a:t>
            </a:r>
            <a:br/>
            <a:r>
              <a:t>• Data ingestion agents auto-categorize broker submissions</a:t>
            </a:r>
            <a:br/>
            <a:r>
              <a:t>• Risk prioritization agents score binding probability</a:t>
            </a:r>
            <a:br/>
            <a:r>
              <a:t>• Decision support agents surface relevant historical cases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370K+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Submissions</a:t>
            </a:r>
            <a:br/>
            <a:r>
              <a:t>processed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2-5x</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end-to-end</a:t>
            </a:r>
            <a:br/>
            <a:r>
              <a:t>underwriting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Financial lines</a:t>
            </a:r>
            <a:br/>
            <a:r>
              <a:t>review coverage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$1B</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Technology</a:t>
            </a:r>
            <a:br/>
            <a:r>
              <a:t>investment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data from 30+ approved third-party sources + internal datasets</a:t>
            </a:r>
            <a:br/>
            <a:r>
              <a:t>→ LLMs classify documents and extract structured data</a:t>
            </a:r>
            <a:br/>
            <a:r>
              <a:t>→ Propensity scoring predicts conversion before underwriter review</a:t>
            </a:r>
            <a:br/>
            <a:r>
              <a:t>→ Portfolio agents run continuous risk simulations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Fraud detection pipeline: MSK/Kafka → Flink → SageMaker → DynamoDB</a:t>
            </a:r>
            <a:br/>
            <a:r>
              <a:t>• 45,000 TPS throughput, P99 latency 85ms</a:t>
            </a:r>
            <a:br/>
            <a:r>
              <a:t>• Scoring: auto-block &gt;0.9 · manual review 0.5–0.9 · auto-approve &lt;0.5</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Propensity scoring predicts conversion across 370K+ submissions</a:t>
            </a:r>
            <a:br/>
            <a:r>
              <a:t>• One underwriter handles workload of five with AI augmentation</a:t>
            </a:r>
            <a:br/>
            <a:r>
              <a:t>• Financial lines coverage: 100% with $1B technology investment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AI/ML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LLMs for document</a:t>
            </a:r>
            <a:br/>
            <a:r>
              <a:t>classification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30+ third-party</a:t>
            </a:r>
            <a:br/>
            <a:r>
              <a:t>sources integrated</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Scoring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Propensity +</a:t>
            </a:r>
            <a:br/>
            <a:r>
              <a:t>binding probability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Portfolio</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Continuous risk</a:t>
            </a:r>
            <a:br/>
            <a:r>
              <a:t>simulation engine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8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UC03 | Clariva Group — 5-Agent Claims Pipeline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14,000+ insurance claims per month, all manually reviewed</a:t>
            </a:r>
            <a:br/>
            <a:r>
              <a:t>• Experts buried in administrative intake and routing</a:t>
            </a:r>
            <a:br/>
            <a:r>
              <a:t>• Claimants waiting days for first response</a:t>
            </a:r>
            <a:br/>
            <a:r>
              <a:t>• Scaling meant hiring, and hiring couldn't keep up</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autonomous agents: intake, document analysis, fraud, decision, comms</a:t>
            </a:r>
            <a:br/>
            <a:r>
              <a:t>• Agents pass structured context between stages, not raw data</a:t>
            </a:r>
            <a:br/>
            <a:r>
              <a:t>• Every decision logged and auditable</a:t>
            </a:r>
            <a:br/>
            <a:r>
              <a:t>• Human-in-the-loop for complex claims only</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73%</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resolved</a:t>
            </a:r>
            <a:br/>
            <a:r>
              <a:t>end-to-end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3.8d → 4h</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a:t>
            </a:r>
            <a:br/>
            <a:r>
              <a:t>resolution 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27%</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Complex claims</a:t>
            </a:r>
            <a:br/>
            <a:r>
              <a:t>to human adjusters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Decision audit</a:t>
            </a:r>
            <a:br/>
            <a:r>
              <a:t>trail coverage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 01: Extract structured fields, validate policy, route by type</a:t>
            </a:r>
            <a:br/>
            <a:r>
              <a:t>→ Agent 02: Analyze PDFs, photos, medical reports; flag coverage gaps</a:t>
            </a:r>
            <a:br/>
            <a:r>
              <a:t>→ Agent 03: Vector search against historical fraud patterns; score risk</a:t>
            </a:r>
            <a:br/>
            <a:r>
              <a:t>→ Agent 04: Generate settlement or adjuster brief; trigger payment</a:t>
            </a:r>
            <a:br/>
            <a:r>
              <a:t>→ Agent 05: Handle all claimant communication in natural language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5-agent architecture: Intake → Document → Fraud → Decision → Comms</a:t>
            </a:r>
            <a:br/>
            <a:r>
              <a:t>• Hospital workflow analogy: Arrival → Triage → Registration → Admit (ADT^A01)</a:t>
            </a:r>
            <a:br/>
            <a:r>
              <a:t>• ESI levels map to claims severity: auto-process low-touch, escalate critical</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73% claims resolved end-to-end without human intervention</a:t>
            </a:r>
            <a:br/>
            <a:r>
              <a:t>• Resolution time: 3.8 days → 4 hours</a:t>
            </a:r>
            <a:br/>
            <a:r>
              <a:t>• 100% audit trail coverage across all agent decisions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OpenAI agents</a:t>
            </a:r>
            <a:br/>
            <a:r>
              <a:t>sequential pipeline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Search</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Vector embeddings</a:t>
            </a:r>
            <a:br/>
            <a:r>
              <a:t>fraud detection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Comms</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Assistants API</a:t>
            </a:r>
            <a:br/>
            <a:r>
              <a:t>conversation context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Audit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Full decision</a:t>
            </a:r>
            <a:br/>
            <a:r>
              <a:t>trail per claim</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Security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9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UC04 | Autonomous Commercial Underwriting</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SME commercial underwriting requires 40+ data points per submission</a:t>
            </a:r>
            <a:br/>
            <a:r>
              <a:t>• Quote turnaround: 48-72 hours for standard risks</a:t>
            </a:r>
            <a:br/>
            <a:r>
              <a:t>• Risk appetite varies by industry, geography, coverage type</a:t>
            </a:r>
            <a:br/>
            <a:r>
              <a:t>• Experienced underwriters’ tacit knowledge hard to codify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6 specialized agents in sequence with Guardian monitoring every decision</a:t>
            </a:r>
            <a:br/>
            <a:r>
              <a:t>• Autonomous path (73%): standard risks processed without human touch</a:t>
            </a:r>
            <a:br/>
            <a:r>
              <a:t>• Assisted path (19%): minor concerns flagged for UW review</a:t>
            </a:r>
            <a:br/>
            <a:r>
              <a:t>• Manual path (8%): complex risks get full human underwriting</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48h → 3.7m</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Quote turnaround</a:t>
            </a:r>
            <a:br/>
            <a:r>
              <a:t>(standard risks)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6x</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Submissions</a:t>
            </a:r>
            <a:br/>
            <a:r>
              <a:t>processed per day</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94.2%</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Decision agreement</a:t>
            </a:r>
            <a:br/>
            <a:r>
              <a:t>with humans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SME premium</a:t>
            </a:r>
            <a:br/>
            <a:r>
              <a:t>volume increase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Intake Agent: parse documents, extract data, validate completeness</a:t>
            </a:r>
            <a:br/>
            <a:r>
              <a:t>→ Enrichment Agent: pull company data, claims history, market intelligence</a:t>
            </a:r>
            <a:br/>
            <a:r>
              <a:t>→ Risk Assessment Agent: score risk, flag concerns, route decision</a:t>
            </a:r>
            <a:br/>
            <a:r>
              <a:t>→ Pricing Agent: calculate premium, apply rules, generate terms</a:t>
            </a:r>
            <a:br/>
            <a:r>
              <a:t>→ Wordings Agent: issue policy, generate documentation</a:t>
            </a:r>
            <a:br/>
            <a:r>
              <a:t>→ Guardian Agent: real-time monitoring, boundary enforcement, audit logging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OpenHands context condensation: max 240 events, summarize on overflow</a:t>
            </a:r>
            <a:br/>
            <a:r>
              <a:t>• Skill loading precedence: Project → User → Public directories</a:t>
            </a:r>
            <a:br/>
            <a:r>
              <a:t>• Same pattern manages growing claims history across agent memory</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94.2% decision agreement with human underwriters</a:t>
            </a:r>
            <a:br/>
            <a:r>
              <a:t>• Routing: Autonomous 73% · Assisted 19% · Manual 8%</a:t>
            </a:r>
            <a:br/>
            <a:r>
              <a:t>• Guardian agent provides real-time monitoring and audit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Pipeline</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6 specialized</a:t>
            </a:r>
            <a:br/>
            <a:r>
              <a:t>agents + Guardian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Training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50K historical</a:t>
            </a:r>
            <a:br/>
            <a:r>
              <a:t>submissions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Routing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73% auto / 19%</a:t>
            </a:r>
            <a:br/>
            <a:r>
              <a:t>assisted / 8% manual</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Compliance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Regulator-approved</a:t>
            </a:r>
            <a:br/>
            <a:r>
              <a:t>explainability</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Security Agent</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10 / 46</a:t>
            </a:r>
          </a:p>
        </p:txBody>
      </p:sp>
      <p:sp>
        <p:nvSpPr>
          <p:cNvPr id="43" name="Rounded Rectangle 42"/>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UC05 | Vehicle Insurance AI Claims App</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High-volume vehicle claims across multiple regions</a:t>
            </a:r>
            <a:br/>
            <a:r>
              <a:t>• Manual review of historical claim data for fraud detection</a:t>
            </a:r>
            <a:br/>
            <a:r>
              <a:t>• Officers manually applied business rules and drafted responses</a:t>
            </a:r>
            <a:br/>
            <a:r>
              <a:t>• Slow processing led to delays, errors, and customer frustration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4 specialized AI agents: insights, fraud, rules, communication</a:t>
            </a:r>
            <a:br/>
            <a:r>
              <a:t>• Claims Insights Agent: auto-overview of applicant history and risk</a:t>
            </a:r>
            <a:br/>
            <a:r>
              <a:t>• Fraud Investigator Agent: pattern detection across historical data</a:t>
            </a:r>
            <a:br/>
            <a:r>
              <a:t>• Human-in-the-loop only for high-value or fraud-flagged cases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ROI within</a:t>
            </a:r>
            <a:br/>
            <a:r>
              <a:t>12 months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62%</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claims</a:t>
            </a:r>
            <a:br/>
            <a:r>
              <a:t>processing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$320K</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cost</a:t>
            </a:r>
            <a:br/>
            <a:r>
              <a:t>savings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72%</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Processes</a:t>
            </a:r>
            <a:br/>
            <a:r>
              <a:t>automated</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Claim submitted → Insights Agent provides risk overview</a:t>
            </a:r>
            <a:br/>
            <a:r>
              <a:t>→ Fraud Agent cross-references historical patterns and flags anomalies</a:t>
            </a:r>
            <a:br/>
            <a:r>
              <a:t>→ Rules Agent applies business logic and generates decision recommendation</a:t>
            </a:r>
            <a:br/>
            <a:r>
              <a:t>→ Communication Agent drafts tailored emails with policy-compliant language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Streaming architecture: Kinesis (8 shards, 8MB/s) → Flink (5-min windows)</a:t>
            </a:r>
            <a:br/>
            <a:r>
              <a:t>• Storage: Redshift + S3 Parquet, sub-second queries, &lt;5 min freshness SLA</a:t>
            </a:r>
            <a:br/>
            <a:r>
              <a:t>• Monthly cost: Redshift $2,345 · Kinesis $86 · Glue $198 · Total $4,050/mo</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245% ROI within 12 months, $320K annual cost savings</a:t>
            </a:r>
            <a:br/>
            <a:r>
              <a:t>• 4 UiPath agents: Claims Insights, Fraud Investigator, Rules, Communication</a:t>
            </a:r>
            <a:br/>
            <a:r>
              <a:t>• Cost per million records: $0.027</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UiPath intelligent</a:t>
            </a:r>
            <a:br/>
            <a:r>
              <a:t>automation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4 specialized</a:t>
            </a:r>
            <a:br/>
            <a:r>
              <a:t>AI agents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Multi-region</a:t>
            </a:r>
            <a:br/>
            <a:r>
              <a:t>deployment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ROI</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245% within</a:t>
            </a:r>
            <a:br/>
            <a:r>
              <a:t>12 months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11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02</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Financial Services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Agentic banking, research, ERP automation, and business intelligence</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12 / 46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UC06 | Wells Fargo — Agentic AI at Enterprise Scale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FX post-trade inquiries across multiple internal systems</a:t>
            </a:r>
            <a:br/>
            <a:r>
              <a:t>• Employees navigating policies across disconnected data sources</a:t>
            </a:r>
            <a:br/>
            <a:r>
              <a:t>• Customer service limited to business hours with long wait times</a:t>
            </a:r>
            <a:br/>
            <a:r>
              <a:t>• Need for real-time market insights during client interactions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triage, answer, and summarize complex FX inquiries</a:t>
            </a:r>
            <a:br/>
            <a:r>
              <a:t>• Multimodal enterprise search across policies and operational tools</a:t>
            </a:r>
            <a:br/>
            <a:r>
              <a:t>• 24/7 hyper-personalized customer experiences across all channels</a:t>
            </a:r>
            <a:br/>
            <a:r>
              <a:t>• NotebookLM for sophisticated research and content generation</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Employees</a:t>
            </a:r>
            <a:br/>
            <a:r>
              <a:t>empowered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24/7</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Customer service</a:t>
            </a:r>
            <a:br/>
            <a:r>
              <a:t>automation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insights</a:t>
            </a:r>
            <a:br/>
            <a:r>
              <a:t>for bankers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Multi-channel</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branch,</a:t>
            </a:r>
            <a:br/>
            <a:r>
              <a:t>call center</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Agents find and synthesize information across enterprise data sources</a:t>
            </a:r>
            <a:br/>
            <a:r>
              <a:t>→ Automate routine tasks: balance inquiries, debit card replacements</a:t>
            </a:r>
            <a:br/>
            <a:r>
              <a:t>→ Provide tailored advice and product recommendations at scale</a:t>
            </a:r>
            <a:br/>
            <a:r>
              <a:t>→ Free up bankers to focus on complex tasks and client relationships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Customer support maturity: Production — 67% resolution without human</a:t>
            </a:r>
            <a:br/>
            <a:r>
              <a:t>• Live examples: Klarna (2.3M conversations), Intercom Fin, Zendesk AI</a:t>
            </a:r>
            <a:br/>
            <a:r>
              <a:t>• LangChain ecosystem: 700+ integrations, LangSmith observability ($39/seat)</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30K+ employees empowered with AI-augmented workflows</a:t>
            </a:r>
            <a:br/>
            <a:r>
              <a:t>• Data remains within Wells Fargo's controlled environment</a:t>
            </a:r>
            <a:br/>
            <a:r>
              <a:t>• Multimodal enterprise search across policies and operational docs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Agentspace</a:t>
            </a:r>
            <a:br/>
            <a:r>
              <a:t>+ NotebookLM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FX, retail, CIB,</a:t>
            </a:r>
            <a:br/>
            <a:r>
              <a:t>marketing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Search</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Multimodal</a:t>
            </a:r>
            <a:br/>
            <a:r>
              <a:t>enterprise search</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30K+ employees</a:t>
            </a:r>
            <a:br/>
            <a:r>
              <a:t>across enterprise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13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UC07 | Schroders — Multi-Agent Financial Research</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multi-step equity research: fundamentals, filings, news synthesis</a:t>
            </a:r>
            <a:br/>
            <a:r>
              <a:t>• Analysis that took analysts days to complete manually</a:t>
            </a:r>
            <a:br/>
            <a:r>
              <a:t>• Dependencies between deterministic tasks and non-deterministic reasoning</a:t>
            </a:r>
            <a:br/>
            <a:r>
              <a:t>• Standalone LLMs couldn't handle ordered data retrieval workflows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 research assistant with parent-child graph structure</a:t>
            </a:r>
            <a:br/>
            <a:r>
              <a:t>• Porter's 5 Forces Agent triggers child agents in parallel/sequence</a:t>
            </a:r>
            <a:br/>
            <a:r>
              <a:t>• Users create, test, and combine agents into directed graph workflows</a:t>
            </a:r>
            <a:br/>
            <a:r>
              <a:t>• Analyst creates complete company analysis in minutes, not days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Days → Min</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Company analysis</a:t>
            </a:r>
            <a:br/>
            <a:r>
              <a:t>time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 Forces</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Full Porter’s</a:t>
            </a:r>
            <a:br/>
            <a:r>
              <a:t>analysis automated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Versioned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Agent configs</a:t>
            </a:r>
            <a:br/>
            <a:r>
              <a:t>in Firestore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Modular</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Combine agents</a:t>
            </a:r>
            <a:br/>
            <a:r>
              <a:t>into workflows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Analyst creates agent with name, description, prompt template</a:t>
            </a:r>
            <a:br/>
            <a:r>
              <a:t>→ Quick chat function for smoke-testing agents and tweaking prompts</a:t>
            </a:r>
            <a:br/>
            <a:r>
              <a:t>→ Tested agents join pool; users combine them into multi-step workflows</a:t>
            </a:r>
            <a:br/>
            <a:r>
              <a:t>→ Parent graph orchestrates; child agents complete tasks and update state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LangChain: Chain/Agent/Tool abstractions, LCEL, 700+ integrations</a:t>
            </a:r>
            <a:br/>
            <a:r>
              <a:t>• Parent-child agent delegation: Porter's 5 Forces triggers children in parallel</a:t>
            </a:r>
            <a:br/>
            <a:r>
              <a:t>• Same OpenHands AgentDefinition pattern: name, tools, skills, system prompt</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Agent configs versioned in Firestore for reproducibility</a:t>
            </a:r>
            <a:br/>
            <a:r>
              <a:t>• LangSmith observability at $39/seat/mo</a:t>
            </a:r>
            <a:br/>
            <a:r>
              <a:t>• Modular workflows: deterministic + non-deterministic tasks separated</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 Agent</a:t>
            </a:r>
            <a:br/>
            <a:r>
              <a:t>Builder + Gemini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LangGraph</a:t>
            </a:r>
            <a:br/>
            <a:r>
              <a:t>state management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Storage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Firestore agent</a:t>
            </a:r>
            <a:br/>
            <a:r>
              <a:t>config versioning</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Evaluation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AutoSxS Model</a:t>
            </a:r>
            <a:br/>
            <a:r>
              <a:t>Evaluation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14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UC08 | FinRobot — Agentic ERP for Financial Workflows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Wire transfers: mission-critical, strict compliance (SWIFT, AML/KYC)</a:t>
            </a:r>
            <a:br/>
            <a:r>
              <a:t>• Reimbursements: high frequency, unstructured inputs (receipts, invoices)</a:t>
            </a:r>
            <a:br/>
            <a:r>
              <a:t>• Traditional workflow engines are brittle, can't adapt dynamically</a:t>
            </a:r>
            <a:br/>
            <a:r>
              <a:t>• Manual process: end-to-end time measured in days, high error rates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Generative Business Process AI Agents (GBPAs) for ERP automation</a:t>
            </a:r>
            <a:br/>
            <a:r>
              <a:t>• Agents interpret user intent and synthesize workflows in real time</a:t>
            </a:r>
            <a:br/>
            <a:r>
              <a:t>• Coordinate specialized sub-agents for modular task execution</a:t>
            </a:r>
            <a:br/>
            <a:r>
              <a:t>• Intelligent parallelization of approval steps and risk checks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Processing time</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Error rate</a:t>
            </a:r>
            <a:br/>
            <a:r>
              <a:t>drop</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82%</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Reimbursement</a:t>
            </a:r>
            <a:br/>
            <a:r>
              <a:t>time reduction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Workflow</a:t>
            </a:r>
            <a:br/>
            <a:r>
              <a:t>synthesis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Chain-of-Actions (CoA) engine dynamically executes agent workflows</a:t>
            </a:r>
            <a:br/>
            <a:r>
              <a:t>→ Document, retrieval, reasoning, and API agents as microservices</a:t>
            </a:r>
            <a:br/>
            <a:r>
              <a:t>→ Agents decompose goals into executable plans in real time</a:t>
            </a:r>
            <a:br/>
            <a:r>
              <a:t>→ 5W3H1R schema for structured business process modeling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AWS pricing: Kinesis $0.015/shard-hr · Redshift $1.086/hr/node (RA3)</a:t>
            </a:r>
            <a:br/>
            <a:r>
              <a:t>• Glue ETL: $0.44/DPU-hr · MSK Kafka Serverless: $0.0012/partition-hr</a:t>
            </a:r>
            <a:br/>
            <a:r>
              <a:t>• Total platform cost: ~$4,050/mo · $0.027 per million records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Processing time reduced 40%, error rate reduced 94%</a:t>
            </a:r>
            <a:br/>
            <a:r>
              <a:t>• 5W3H1R schema for structured process modeling</a:t>
            </a:r>
            <a:br/>
            <a:r>
              <a:t>• Chain-of-Actions (CoA) engine for dynamic workflow synthesis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Architecture</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Microservice agents</a:t>
            </a:r>
            <a:br/>
            <a:r>
              <a:t>Docker + K8s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Engine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Chain-of-Actions</a:t>
            </a:r>
            <a:br/>
            <a:r>
              <a:t>runtime executor</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ERP, CRM,</a:t>
            </a:r>
            <a:br/>
            <a:r>
              <a:t>SWIFT, banking</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Compliance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AML/KYC</a:t>
            </a:r>
            <a:br/>
            <a:r>
              <a:t>built-in controls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15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UC09 | OPLOG — AI Agents for Business Intelligence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Sales reps spent significant time researching each new prospect</a:t>
            </a:r>
            <a:br/>
            <a:r>
              <a:t>• CRM data quality issues: incomplete fields, missing information</a:t>
            </a:r>
            <a:br/>
            <a:r>
              <a:t>• Manual reporting consumed analyst hours instead of strategic work</a:t>
            </a:r>
            <a:br/>
            <a:r>
              <a:t>• No mechanism to prioritize high-value opportunities automatically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3 independent AI agents: Deal Analyzer, Sales Coach, Lead Insight</a:t>
            </a:r>
            <a:br/>
            <a:r>
              <a:t>• Sales Coach enforces data quality in real time on stage changes</a:t>
            </a:r>
            <a:br/>
            <a:r>
              <a:t>• Lead Insight analyzes 6 social media platforms per new lead</a:t>
            </a:r>
            <a:br/>
            <a:r>
              <a:t>• Comprehensive ICP fit assessment and approach recommendations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Sales cycle</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91%</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CRM data</a:t>
            </a:r>
            <a:br/>
            <a:r>
              <a:t>completeness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98%</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Research time</a:t>
            </a:r>
            <a:br/>
            <a:r>
              <a:t>reduction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99.5%</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Teams delivery</a:t>
            </a:r>
            <a:br/>
            <a:r>
              <a:t>success rate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Deal Analyzer: triggered by HubSpot webhooks, validates required fields</a:t>
            </a:r>
            <a:br/>
            <a:r>
              <a:t>→ Sales Coach: creates tasks for missing data when deals change stages</a:t>
            </a:r>
            <a:br/>
            <a:r>
              <a:t>→ Lead Insight: scans 6 platforms, assesses ICP fit, delivers report to Teams</a:t>
            </a:r>
            <a:br/>
            <a:r>
              <a:t>→ Each agent operates independently with targeted intelligence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CAC/LTV benchmarks: Organic search 15:1 (scale) · Paid search 4:1 (optimize)</a:t>
            </a:r>
            <a:br/>
            <a:r>
              <a:t>• Social ads 1.5:1 (cut 60%) · Display ads 1.4:1 (pause)</a:t>
            </a:r>
            <a:br/>
            <a:r>
              <a:t>• Minimum viable ratio: 3:1 — below is unprofitable after overhead</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91% CRM data completeness, 99.5% Teams delivery success</a:t>
            </a:r>
            <a:br/>
            <a:r>
              <a:t>• 3 independent agents: Deal Analyzer, Sales Coach, Lead Insight</a:t>
            </a:r>
            <a:br/>
            <a:r>
              <a:t>• Lead Insight scans 6 platforms per new lead</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Bedrock</a:t>
            </a:r>
            <a:br/>
            <a:r>
              <a:t>AgentCore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LLM</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Anthropic Claude</a:t>
            </a:r>
            <a:br/>
            <a:r>
              <a:t>Sonnet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CRM</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HubSpot webhook</a:t>
            </a:r>
            <a:br/>
            <a:r>
              <a:t>integration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Delivery</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Microsoft Teams</a:t>
            </a:r>
            <a:br/>
            <a:r>
              <a:t>alerts + reports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16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03</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Supply Chain &amp; Logistics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Autonomous exception handling, email automation, and control towers</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17 / 46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UC10 | Singapore 3PL — Autonomous Supply Chain Control Tower</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Managing $2.8B in annual freight across 42,000 active shipments</a:t>
            </a:r>
            <a:br/>
            <a:r>
              <a:t>• Average exception resolution: 4.7 hours per incident</a:t>
            </a:r>
            <a:br/>
            <a:r>
              <a:t>• 45-person team handling shipment exceptions manually</a:t>
            </a:r>
            <a:br/>
            <a:r>
              <a:t>• 91.4% on-time delivery rate vs. industry expectations &gt;98%</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 control tower: detection, root cause, action execution</a:t>
            </a:r>
            <a:br/>
            <a:r>
              <a:t>• Disruption Detection Agent correlates AIS vessel data + carrier feeds</a:t>
            </a:r>
            <a:br/>
            <a:r>
              <a:t>• Root Cause Agent: RAG over 48,000 resolved exceptions (3 years)</a:t>
            </a:r>
            <a:br/>
            <a:r>
              <a:t>• Action Execution Agent auto-resolves when confidence &gt;0.85</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73%</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Exceptions resolved</a:t>
            </a:r>
            <a:br/>
            <a:r>
              <a:t>autonomously</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4.7h → 22m</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 resolution</a:t>
            </a:r>
            <a:br/>
            <a:r>
              <a:t>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S$6.2M → S$1.8M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exception</a:t>
            </a:r>
            <a:br/>
            <a:r>
              <a:t>cost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99.2%</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On-time delivery</a:t>
            </a:r>
            <a:br/>
            <a:r>
              <a:t>(was 91.4%)</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Detection Agent: correlate vessel tracking, customs, carrier data proactively</a:t>
            </a:r>
            <a:br/>
            <a:r>
              <a:t>→ Root Cause Agent: RAG over 3 years of resolution history + carrier SLAs</a:t>
            </a:r>
            <a:br/>
            <a:r>
              <a:t>→ Action Agent: auto-rebook carriers, file customs amendments, notify customers</a:t>
            </a:r>
            <a:br/>
            <a:r>
              <a:t>→ Below 0.85 confidence: route to human with full analysis pre-loaded</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Streaming: Kinesis (8 shards, 8MB/s) → Flink windowed aggregation</a:t>
            </a:r>
            <a:br/>
            <a:r>
              <a:t>• Freshness SLA: &lt;5 minutes end-to-end</a:t>
            </a:r>
            <a:br/>
            <a:r>
              <a:t>• Data quality: Schema validation 99.2% · Completeness 99.7% · Accuracy 98.9%</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73% autonomous resolution, time: 4.7h → 22 min</a:t>
            </a:r>
            <a:br/>
            <a:r>
              <a:t>• Exception cost reduced: S$6.2M → S$1.8M</a:t>
            </a:r>
            <a:br/>
            <a:r>
              <a:t>• On-time delivery improved: 91.4% → 99.2%</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Detection</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AIS vessel data</a:t>
            </a:r>
            <a:br/>
            <a:r>
              <a:t>+ carrier feeds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RAG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48K exceptions</a:t>
            </a:r>
            <a:br/>
            <a:r>
              <a:t>resolution history</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Execution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Carrier APIs +</a:t>
            </a:r>
            <a:br/>
            <a:r>
              <a:t>TradeNet customs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UI</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Next.js control</a:t>
            </a:r>
            <a:br/>
            <a:r>
              <a:t>tower dashboard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Customer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18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UC11 | C.H. Robinson — Logistics Email Automation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15,000 shipping request emails per day with inconsistent formatting</a:t>
            </a:r>
            <a:br/>
            <a:r>
              <a:t>• Handwritten notes on PDFs, missing essential data fields</a:t>
            </a:r>
            <a:br/>
            <a:r>
              <a:t>• 4-hour average wait for email to be processed from queue</a:t>
            </a:r>
            <a:br/>
            <a:r>
              <a:t>• 7 minutes per email for manual order creation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read emails, connect information, detect missing data</a:t>
            </a:r>
            <a:br/>
            <a:r>
              <a:t>• Automatically fetch missing information and create orders</a:t>
            </a:r>
            <a:br/>
            <a:r>
              <a:t>• LTL vs. FTL classification using LangGraph state management</a:t>
            </a:r>
            <a:br/>
            <a:r>
              <a:t>• Meta-prompting helps users learn better input formats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5,500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Orders automated</a:t>
            </a:r>
            <a:br/>
            <a:r>
              <a:t>per day</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600h</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Saved daily on</a:t>
            </a:r>
            <a:br/>
            <a:r>
              <a:t>email processing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4h → min</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Email queue</a:t>
            </a:r>
            <a:br/>
            <a:r>
              <a:t>wait time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37M</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Shipments managed</a:t>
            </a:r>
            <a:br/>
            <a:r>
              <a:t>annually</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 ingests email, extracts structured order data from unstructured text</a:t>
            </a:r>
            <a:br/>
            <a:r>
              <a:t>→ Handles PDFs with handwritten notes, inconsistent formats, missing fields</a:t>
            </a:r>
            <a:br/>
            <a:r>
              <a:t>→ LangGraph tracks state through multi-step order entry process</a:t>
            </a:r>
            <a:br/>
            <a:r>
              <a:t>→ SMEs use LangSmith traces to catch errors before deployment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LangChain: largest ecosystem, 700+ integrations, LangSmith observability</a:t>
            </a:r>
            <a:br/>
            <a:r>
              <a:t>• Trade-offs: abstraction overhead, breaking API changes in earlier versions</a:t>
            </a:r>
            <a:br/>
            <a:r>
              <a:t>• LangSmith traces stitch across the full order entry process for SME review</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5,500 orders automated/day, 600 hours saved daily</a:t>
            </a:r>
            <a:br/>
            <a:r>
              <a:t>• Enterprise: LangSmith at $39/seat/mo</a:t>
            </a:r>
            <a:br/>
            <a:r>
              <a:t>• 37M annual shipments processed through the platform</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 +</a:t>
            </a:r>
            <a:br/>
            <a:r>
              <a:t>LangGraph</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Observability</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LangSmith traces</a:t>
            </a:r>
            <a:br/>
            <a:r>
              <a:t>+ debugging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15K emails/day</a:t>
            </a:r>
            <a:br/>
            <a:r>
              <a:t>5.5K orders/day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Carrier booking</a:t>
            </a:r>
            <a:br/>
            <a:r>
              <a:t>+ TMS systems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19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UC12 | European 3PL — Autonomous Logistics Support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1,200+ support tickets per day (status, exceptions, escalations)</a:t>
            </a:r>
            <a:br/>
            <a:r>
              <a:t>• Average resolution time: 2-4 hours per ticket</a:t>
            </a:r>
            <a:br/>
            <a:r>
              <a:t>• 60% escalation rate to specialists for first-tier queries</a:t>
            </a:r>
            <a:br/>
            <a:r>
              <a:t>• $3.2M annual support cost with 50 FTEs + outsourced overflow</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Composite AI across 5 core systems: WMS, TMS, CRM, Accounting, Compliance</a:t>
            </a:r>
            <a:br/>
            <a:r>
              <a:t>• Predictive models flag high-risk shipments before exceptions occur</a:t>
            </a:r>
            <a:br/>
            <a:r>
              <a:t>• Agents autonomously answer 5 core question types</a:t>
            </a:r>
            <a:br/>
            <a:r>
              <a:t>• Rules engine enforces SLA policies and compliance gates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99.2%</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Autonomous ticket</a:t>
            </a:r>
            <a:br/>
            <a:r>
              <a:t>resolution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 sec</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 resolution</a:t>
            </a:r>
            <a:br/>
            <a:r>
              <a:t>(was 2-4 hours)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$980K</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cost</a:t>
            </a:r>
            <a:br/>
            <a:r>
              <a:t>savings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52 → 78</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NPS score</a:t>
            </a:r>
            <a:br/>
            <a:r>
              <a:t>improvement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Unified data layer: real-time sync across WMS, TMS, CRM, Accounting, Compliance</a:t>
            </a:r>
            <a:br/>
            <a:r>
              <a:t>→ Predictive layer: flag high-risk shipments before they fail</a:t>
            </a:r>
            <a:br/>
            <a:r>
              <a:t>→ Agentic layer: autonomous resolution of 5 question types (WISMB, cost, changes, exceptions, balance)</a:t>
            </a:r>
            <a:br/>
            <a:r>
              <a:t>→ Rules engine: hard policies, compliance gates, SLA-based routing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Monte Carlo: automated lineage + schema change alerts, MTTR 23 min</a:t>
            </a:r>
            <a:br/>
            <a:r>
              <a:t>• Integrations: dbt, Airflow, Redshift, Snowflake, BigQuery</a:t>
            </a:r>
            <a:br/>
            <a:r>
              <a:t>• Great Expectations: null rate 0.3%, uniqueness 99.99% (deduplicated)</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99.2% autonomous resolution, time: 2-4h → 94 seconds</a:t>
            </a:r>
            <a:br/>
            <a:r>
              <a:t>• $980K annual cost savings, NPS improved 52 → 78</a:t>
            </a:r>
            <a:br/>
            <a:r>
              <a:t>• Composite AI across 5 systems: WMS + TMS + CRM + Accounting + Compliance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Systems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WMS + TMS + CRM</a:t>
            </a:r>
            <a:br/>
            <a:r>
              <a:t>+ Accounting</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Predictive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Exception pattern</a:t>
            </a:r>
            <a:br/>
            <a:r>
              <a:t>forecasting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Resolution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question types</a:t>
            </a:r>
            <a:br/>
            <a:r>
              <a:t>autonomous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Rules</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SLA + compliance</a:t>
            </a:r>
            <a:br/>
            <a:r>
              <a:t>policy engine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20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UC13 | UNACEM — Industrial Logistics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Persistent logistics bottleneck at cement plant gates</a:t>
            </a:r>
            <a:br/>
            <a:r>
              <a:t>• Drivers waiting extended times for cement pickup</a:t>
            </a:r>
            <a:br/>
            <a:r>
              <a:t>• Operations span 5 countries with 40+ subsidiaries</a:t>
            </a:r>
            <a:br/>
            <a:r>
              <a:t>• Manual coordination across cement, aggregates, concrete, power</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Logistics agent exposed through WhatsApp for driver interaction</a:t>
            </a:r>
            <a:br/>
            <a:r>
              <a:t>• Agent plans, routes, reflects, and calls tools for multi-step work</a:t>
            </a:r>
            <a:br/>
            <a:r>
              <a:t>• Same architecture scales to IT support, procurement, help desk</a:t>
            </a:r>
            <a:br/>
            <a:r>
              <a:t>• Next: Ask Safety agent for EHS compliance and incident protocols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Driver wait</a:t>
            </a:r>
            <a:br/>
            <a:r>
              <a:t>time 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Countries</a:t>
            </a:r>
            <a:br/>
            <a:r>
              <a:t>covered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Subsidiaries</a:t>
            </a:r>
            <a:br/>
            <a:r>
              <a:t>in network</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Pipeline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procurement,</a:t>
            </a:r>
            <a:br/>
            <a:r>
              <a:t>safety agents next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Driver sends WhatsApp message to logistics agent</a:t>
            </a:r>
            <a:br/>
            <a:r>
              <a:t>→ Agent coordinates cement pickup scheduling and gate management</a:t>
            </a:r>
            <a:br/>
            <a:r>
              <a:t>→ Orchestrate handles multi-step tasks: plan, route, reflect, execute</a:t>
            </a:r>
            <a:br/>
            <a:r>
              <a:t>→ Same blueprint extends to procurement, IT access, help desk agents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OpenHands AgentDefinition: each agent carries name, tools, skills, system prompt</a:t>
            </a:r>
            <a:br/>
            <a:r>
              <a:t>• MCP integration for WhatsApp, extensible to other channels</a:t>
            </a:r>
            <a:br/>
            <a:r>
              <a:t>• Skill precedence: Project → User → Public directories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Driver wait time reduced 40% across 5 countries, 40+ subsidiaries</a:t>
            </a:r>
            <a:br/>
            <a:r>
              <a:t>• Same blueprint extends to IT, procurement, safety agents</a:t>
            </a:r>
            <a:br/>
            <a:r>
              <a:t>• IBM watsonx Orchestrate for multi-step workflow coordination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IBM watsonx</a:t>
            </a:r>
            <a:br/>
            <a:r>
              <a:t>Orchestrate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Interface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WhatsApp</a:t>
            </a:r>
            <a:br/>
            <a:r>
              <a:t>messaging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countries</a:t>
            </a:r>
            <a:br/>
            <a:r>
              <a:t>40+ subsidiaries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Next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EHS Safety</a:t>
            </a:r>
            <a:br/>
            <a:r>
              <a:t>Agent pipeline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21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04</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Manufacturing</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Root cause analysis, quality prediction, and digital twin agents</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22 / 46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UC14 | Apollo Tyres — Manufacturing Reasoner</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Root cause analysis for curing press downtime took up to 7 hours</a:t>
            </a:r>
            <a:br/>
            <a:r>
              <a:t>• 250+ automated curing presses across 3 plants</a:t>
            </a:r>
            <a:br/>
            <a:r>
              <a:t>• 25+ automated sub-elements per press to diagnose</a:t>
            </a:r>
            <a:br/>
            <a:r>
              <a:t>• 140+ SKUs with 3 curing mediums and 2 machine supplier types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Agentic AI Manufacturing Reasoner powered by Amazon Bedrock Agents</a:t>
            </a:r>
            <a:br/>
            <a:r>
              <a:t>• Complex Transformation Engine Agent for context-specific analysis</a:t>
            </a:r>
            <a:br/>
            <a:r>
              <a:t>• RCA Agent: multi-step, multi-LLM workflow for automated diagnosis</a:t>
            </a:r>
            <a:br/>
            <a:r>
              <a:t>• Plant engineers interact via natural language on streaming IoT data</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88%</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RCA effort</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7h → 10m</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Root cause</a:t>
            </a:r>
            <a:br/>
            <a:r>
              <a:t>analysis 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₹15M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savings</a:t>
            </a:r>
            <a:br/>
            <a:r>
              <a:t>(PCR division)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Presses</a:t>
            </a:r>
            <a:br/>
            <a:r>
              <a:t>monitored</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Industrial IoT sends real-time sensor data from curing presses to AWS</a:t>
            </a:r>
            <a:br/>
            <a:r>
              <a:t>→ Engineer asks natural language question about downtime or performance</a:t>
            </a:r>
            <a:br/>
            <a:r>
              <a:t>→ Transformation Agent processes context; RCA Agent runs multi-LLM diagnosis</a:t>
            </a:r>
            <a:br/>
            <a:r>
              <a:t>→ Agent identifies which sub-elements to focus on across 250+ presses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AWS IoT pricing: Kinesis $0.015/shard-hr · Redshift $1.086/hr/node</a:t>
            </a:r>
            <a:br/>
            <a:r>
              <a:t>• Flink Managed: $0.11/KPU-hr · S3: $0.023/GB/mo, Glacier $0.004/GB/mo</a:t>
            </a:r>
            <a:br/>
            <a:r>
              <a:t>• Extended retention: $0.014/shard-hr (up to 365 days)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88% RCA effort reduction, time: 7 hours → 10 minutes</a:t>
            </a:r>
            <a:br/>
            <a:r>
              <a:t>• INR 15M annual savings across 250+ presses in 3 plants</a:t>
            </a:r>
            <a:br/>
            <a:r>
              <a:t>• Spectrum: $5.00/TB scanned for historical analysis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Bedrock</a:t>
            </a:r>
            <a:br/>
            <a:r>
              <a:t>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Industrial IoT</a:t>
            </a:r>
            <a:br/>
            <a:r>
              <a:t>real-time sensors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Storage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Redshift</a:t>
            </a:r>
            <a:br/>
            <a:r>
              <a:t>for analytics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 plants, 250+</a:t>
            </a:r>
            <a:br/>
            <a:r>
              <a:t>presses, 140+ SKUs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23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UC15 | HCLTech Insight — Quality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Manufacturing defects across complex production lines</a:t>
            </a:r>
            <a:br/>
            <a:r>
              <a:t>• Prediction and elimination of different defect types</a:t>
            </a:r>
            <a:br/>
            <a:r>
              <a:t>• Need for real-time quality monitoring at scale</a:t>
            </a:r>
            <a:br/>
            <a:r>
              <a:t>• Integration across multiple data sources and manufacturing systems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HCLTech Insight: manufacturing quality AI agent</a:t>
            </a:r>
            <a:br/>
            <a:r>
              <a:t>• Predict and eliminate different types of defects</a:t>
            </a:r>
            <a:br/>
            <a:r>
              <a:t>• Vertex AI + Google Cloud Cortex Framework integration</a:t>
            </a:r>
            <a:br/>
            <a:r>
              <a:t>• Manufacturing Data Engine platform for unified data access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Defect</a:t>
            </a:r>
            <a:br/>
            <a:r>
              <a:t>prediction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Multi-type</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Defect</a:t>
            </a:r>
            <a:br/>
            <a:r>
              <a:t>coverage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Automated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Quality</a:t>
            </a:r>
            <a:br/>
            <a:r>
              <a:t>monitoring</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Cortex</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Framework</a:t>
            </a:r>
            <a:br/>
            <a:r>
              <a:t>integration</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Manufacturing Data Engine ingests data from production systems</a:t>
            </a:r>
            <a:br/>
            <a:r>
              <a:t>→ Cortex Framework provides pre-built manufacturing data models</a:t>
            </a:r>
            <a:br/>
            <a:r>
              <a:t>→ AI agent analyzes patterns to predict defect occurrence</a:t>
            </a:r>
            <a:br/>
            <a:r>
              <a:t>→ Automated recommendations for corrective action</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Data quality: Schema validation 99.2% · Null rate 0.3%</a:t>
            </a:r>
            <a:br/>
            <a:r>
              <a:t>• 5 DQ dimensions: Completeness 99.7% · Accuracy 98.9% · Consistency 99.4%</a:t>
            </a:r>
            <a:br/>
            <a:r>
              <a:t>• Timeliness 96% within SLA · Uniqueness 99.99%</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Same quality framework detects sensor anomalies = quality drift in production</a:t>
            </a:r>
            <a:br/>
            <a:r>
              <a:t>• Freshness check: 4 rules triggered per week</a:t>
            </a:r>
            <a:br/>
            <a:r>
              <a:t>• Vertex AI + Cortex Framework for unified manufacturing data</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model serving</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Cloud</a:t>
            </a:r>
            <a:br/>
            <a:r>
              <a:t>Cortex</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Manufacturing</a:t>
            </a:r>
            <a:br/>
            <a:r>
              <a:t>Data Engine</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Multi-defect</a:t>
            </a:r>
            <a:br/>
            <a:r>
              <a:t>prediction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24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UC16 | BMW Group — Digital Twin Supply Chain Agents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industrial planning processes and supply chains</a:t>
            </a:r>
            <a:br/>
            <a:r>
              <a:t>• Physical asset scanning and modeling at scale</a:t>
            </a:r>
            <a:br/>
            <a:r>
              <a:t>• Thousands of distribution simulations needed for optimization</a:t>
            </a:r>
            <a:br/>
            <a:r>
              <a:t>• Manual planning cycles too slow for dynamic supply chains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create 3D digital twins from scanned physical assets</a:t>
            </a:r>
            <a:br/>
            <a:r>
              <a:t>• Digital twins perform thousands of autonomous simulations</a:t>
            </a:r>
            <a:br/>
            <a:r>
              <a:t>• Optimize distribution efficiency across the entire supply chain</a:t>
            </a:r>
            <a:br/>
            <a:r>
              <a:t>• Gen AI on Vertex AI for automated 3D model creation</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1000s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Autonomous</a:t>
            </a:r>
            <a:br/>
            <a:r>
              <a:t>simulations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3D</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twin</a:t>
            </a:r>
            <a:br/>
            <a:r>
              <a:t>generation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Optimized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Distribution</a:t>
            </a:r>
            <a:br/>
            <a:r>
              <a:t>efficiency</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Planning</a:t>
            </a:r>
            <a:br/>
            <a:r>
              <a:t>adjustments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Scan physical assets across manufacturing and logistics</a:t>
            </a:r>
            <a:br/>
            <a:r>
              <a:t>→ Vertex AI creates 3D digital twin models from scans</a:t>
            </a:r>
            <a:br/>
            <a:r>
              <a:t>→ Digital twins autonomously run distribution simulations</a:t>
            </a:r>
            <a:br/>
            <a:r>
              <a:t>→ AI optimizes supply chain based on simulation results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Infrastructure cost: Redshift 3 nodes $2,345/mo (58%) · S3 12TB $276/mo</a:t>
            </a:r>
            <a:br/>
            <a:r>
              <a:t>• MSK Kafka 3 brokers $423/mo · Total: $4,050/mo</a:t>
            </a:r>
            <a:br/>
            <a:r>
              <a:t>• Cost per million records: $0.027</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1000s of autonomous distribution simulations</a:t>
            </a:r>
            <a:br/>
            <a:r>
              <a:t>• 3D digital twin generation from physical asset scans</a:t>
            </a:r>
            <a:br/>
            <a:r>
              <a:t>• Digital twin data pipeline follows same streaming analytics pattern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 SORDI.ai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Modeling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3D digital twin</a:t>
            </a:r>
            <a:br/>
            <a:r>
              <a:t>generation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Simulation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Autonomous</a:t>
            </a:r>
            <a:br/>
            <a:r>
              <a:t>optimization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Partner</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Monkeyway</a:t>
            </a:r>
            <a:br/>
            <a:r>
              <a:t>collaboration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25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05</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Healthcare &amp; Life Sciences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Clinical reasoning, precision therapeutics, and drug discovery automation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26 / 46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UC17 | Autonomous Cognitive Concern Detection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Early detection of cognitive impairment limited by screening tools</a:t>
            </a:r>
            <a:br/>
            <a:r>
              <a:t>• Traditional screening requires significant clinical resources</a:t>
            </a:r>
            <a:br/>
            <a:r>
              <a:t>• Expert-driven prompt refinement is time-intensive and costly</a:t>
            </a:r>
            <a:br/>
            <a:r>
              <a:t>• Prevalence shift between datasets impacts generalizability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specialized agents: sensitivity, specificity, clinical reasoning synthesis</a:t>
            </a:r>
            <a:br/>
            <a:r>
              <a:t>• Fully autonomous — zero human input after deployment</a:t>
            </a:r>
            <a:br/>
            <a:r>
              <a:t>• Iterative self-refinement through transparent agent interactions</a:t>
            </a:r>
            <a:br/>
            <a:r>
              <a:t>• Comparable to expert-level performance on clinical notes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F1=0.74</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Validation</a:t>
            </a:r>
            <a:br/>
            <a:r>
              <a:t>performance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F1=0.93</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Refinement</a:t>
            </a:r>
            <a:br/>
            <a:r>
              <a:t>dataset score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Specialized</a:t>
            </a:r>
            <a:br/>
            <a:r>
              <a:t>agents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Human input</a:t>
            </a:r>
            <a:br/>
            <a:r>
              <a:t>after deployment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Specialist Agent: focused clinical decisions (256 tokens, deterministic)</a:t>
            </a:r>
            <a:br/>
            <a:r>
              <a:t>→ Optimization agents: comprehensive analysis (512 tokens each)</a:t>
            </a:r>
            <a:br/>
            <a:r>
              <a:t>→ Iterative refinement: max 5 cycles until sensitivity + specificity ≥ 0.9</a:t>
            </a:r>
            <a:br/>
            <a:r>
              <a:t>→ Sequential execution: each agent receives structured context from prior</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HL7v2 → FHIR mapping: PID→Patient, PV1→Encounter, OBX→Observation (screening scores)</a:t>
            </a:r>
            <a:br/>
            <a:r>
              <a:t>• DG1→Condition with ICD-10 codes for dementia diagnosis</a:t>
            </a:r>
            <a:br/>
            <a:r>
              <a:t>• Mirth Connect: 10K+ msg/min per channel for real-time clinical feeds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Validation F1: 0.74 → Refinement F1: 0.93 with zero human input</a:t>
            </a:r>
            <a:br/>
            <a:r>
              <a:t>• 44% of false negatives are clinically appropriate (conservative)</a:t>
            </a:r>
            <a:br/>
            <a:r>
              <a:t>• 5 specialized agents: 256 tokens deterministic + 512 tokens optimization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Llama 3.1 8B</a:t>
            </a:r>
            <a:br/>
            <a:r>
              <a:t>(efficient)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specialized</a:t>
            </a:r>
            <a:br/>
            <a:r>
              <a:t>clinical domains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Method</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Autonomous</a:t>
            </a:r>
            <a:br/>
            <a:r>
              <a:t>self-optimization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Evaluation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Sensitivity +</a:t>
            </a:r>
            <a:br/>
            <a:r>
              <a:t>specificity tracking</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27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UC18 | TXAGENT — Precision Therapeutics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Precision therapeutics require multimodal adaptive treatment models</a:t>
            </a:r>
            <a:br/>
            <a:r>
              <a:t>• Clinicians must reason across drugs, genes, diseases simultaneously</a:t>
            </a:r>
            <a:br/>
            <a:r>
              <a:t>• Static knowledge bases become outdated as guidelines evolve</a:t>
            </a:r>
            <a:br/>
            <a:r>
              <a:t>• Complex queries require multi-step reasoning across diverse sources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 with 211 biomedical tools for multi-step therapeutic reasoning</a:t>
            </a:r>
            <a:br/>
            <a:r>
              <a:t>• TOOLUNIVERSE: consolidated toolbox of databases + ML models</a:t>
            </a:r>
            <a:br/>
            <a:r>
              <a:t>• Real-time retrieval from continually updated knowledge sources</a:t>
            </a:r>
            <a:br/>
            <a:r>
              <a:t>• Transparent reasoning traces grounded in multi-source evidence</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211</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Biomedical</a:t>
            </a:r>
            <a:br/>
            <a:r>
              <a:t>tools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Multi-step</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Therapeutic</a:t>
            </a:r>
            <a:br/>
            <a:r>
              <a:t>reasoning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Knowledge</a:t>
            </a:r>
            <a:br/>
            <a:r>
              <a:t>retrieval</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Traceable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Evidence-grounded</a:t>
            </a:r>
            <a:br/>
            <a:r>
              <a:t>recommendations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Receives therapeutic question → generates thought process</a:t>
            </a:r>
            <a:br/>
            <a:r>
              <a:t>→ TOOLRAG model selects relevant tools from TOOLUNIVERSE</a:t>
            </a:r>
            <a:br/>
            <a:r>
              <a:t>→ Iterative: invoke tools, receive feedback, refine reasoning</a:t>
            </a:r>
            <a:br/>
            <a:r>
              <a:t>→ FINISH tool concludes with final answer + multi-step trace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Mirth Connect routing: ORU^R01 (lab results) → drug interaction check</a:t>
            </a:r>
            <a:br/>
            <a:r>
              <a:t>• ORM^O01 (new orders) → contraindication agent</a:t>
            </a:r>
            <a:br/>
            <a:r>
              <a:t>• Epic: 2.5M+ daily transactions, 2,800+ FHIR endpoints, 94% auto-verify</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TOOLUNIVERSE: 211 biomedical tools with full evidence chain</a:t>
            </a:r>
            <a:br/>
            <a:r>
              <a:t>• TOOLRAG: adaptive retrieval · TOOLGEN: multi-agent tool generator</a:t>
            </a:r>
            <a:br/>
            <a:r>
              <a:t>• 85,340 multi-step training samples for reasoning traces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Tools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TOOLUNIVERSE</a:t>
            </a:r>
            <a:br/>
            <a:r>
              <a:t>211 biomedical tools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Retrieval</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TOOLRAG adaptive</a:t>
            </a:r>
            <a:br/>
            <a:r>
              <a:t>tool selection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Training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85K multi-step</a:t>
            </a:r>
            <a:br/>
            <a:r>
              <a:t>reasoning traces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Output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Transparent</a:t>
            </a:r>
            <a:br/>
            <a:r>
              <a:t>reasoning chains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28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UC19 | Tippy — Drug Discovery DMTA Automation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Drug discovery DMTA cycle relies on manual coordination across teams</a:t>
            </a:r>
            <a:br/>
            <a:r>
              <a:t>• Design-Make-Test-Analyze requires cross-disciplinary expertise</a:t>
            </a:r>
            <a:br/>
            <a:r>
              <a:t>• Laboratory workflows are complex with safety-critical operations</a:t>
            </a:r>
            <a:br/>
            <a:r>
              <a:t>• Integration needed across LIMS, ELN, and analytical instruments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specialized agents: Supervisor, Molecule, Lab, Analysis, Report</a:t>
            </a:r>
            <a:br/>
            <a:r>
              <a:t>• Safety Guardrail Agent provides oversight across all operations</a:t>
            </a:r>
            <a:br/>
            <a:r>
              <a:t>• First production-ready implementation for automating DMTA cycle</a:t>
            </a:r>
            <a:br/>
            <a:r>
              <a:t>• Seamless coordination between lab operations and cloud infrastructure</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5+1</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Specialized agents</a:t>
            </a:r>
            <a:br/>
            <a:r>
              <a:t>+ Safety Guardrail</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DMTA</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Full cycle</a:t>
            </a:r>
            <a:br/>
            <a:r>
              <a:t>automated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Production</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First production-ready</a:t>
            </a:r>
            <a:br/>
            <a:r>
              <a:t>DMTA agents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Integrated</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LIMS + ELN +</a:t>
            </a:r>
            <a:br/>
            <a:r>
              <a:t>instrument data</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Supervisor Agent orchestrates across 5 domain-specific agents</a:t>
            </a:r>
            <a:br/>
            <a:r>
              <a:t>→ Molecule Agent: computational chemistry tasks (Design phase)</a:t>
            </a:r>
            <a:br/>
            <a:r>
              <a:t>→ Lab Agent: HPLC workflows, synthesis jobs on Artificial platform (Make/Test)</a:t>
            </a:r>
            <a:br/>
            <a:r>
              <a:t>→ Analysis Agent: data processing, statistical analysis (Analyze phase)</a:t>
            </a:r>
            <a:br/>
            <a:r>
              <a:t>→ Report Agent: documentation and communication</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Epic: 38% US hospital beds, 2,800+ FHIR endpoints, 99.95% uptime</a:t>
            </a:r>
            <a:br/>
            <a:r>
              <a:t>• Mirth Connect 4.6: MLLP/HTTPS/SFTP, 10K+ msg/min, Docker or bare metal</a:t>
            </a:r>
            <a:br/>
            <a:r>
              <a:t>• Same HL7 interop patterns apply to LIMS/ELN integration in drug discovery</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HL7 parse error rate: 0.3%, insurance verify latency: 2.3s avg</a:t>
            </a:r>
            <a:br/>
            <a:r>
              <a:t>• 5+1 agent architecture with Safety Guardrail oversight</a:t>
            </a:r>
            <a:br/>
            <a:r>
              <a:t>• Full DMTA cycle coverage: Design → Make → Test → Analyze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Artificial lab</a:t>
            </a:r>
            <a:br/>
            <a:r>
              <a:t>orchestration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domain-specific</a:t>
            </a:r>
            <a:br/>
            <a:r>
              <a:t>+ Safety Guardrail</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LIMS + ELN +</a:t>
            </a:r>
            <a:br/>
            <a:r>
              <a:t>HPLC instruments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Full DMTA</a:t>
            </a:r>
            <a:br/>
            <a:r>
              <a:t>cycle coverage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29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06</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Enterprise Operations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Workforce transformation, multi-agent platforms, and research intelligence</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30 / 46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UC20 | ServiceNow — Workforce Transformation with AI Agents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Finance queries took avg 4 days for resolution via manual process</a:t>
            </a:r>
            <a:br/>
            <a:r>
              <a:t>• IT service desk tickets required extensive human triage</a:t>
            </a:r>
            <a:br/>
            <a:r>
              <a:t>• Workforce grew from 14K to 30K without proportional ops headcount</a:t>
            </a:r>
            <a:br/>
            <a:r>
              <a:t>• Unchecked agent proliferation created duplication and cost spirals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Redesigned processes around AI agents, not just automation layered on</a:t>
            </a:r>
            <a:br/>
            <a:r>
              <a:t>• Finance queries: from 4 days to 8 seconds resolution</a:t>
            </a:r>
            <a:br/>
            <a:r>
              <a:t>• IT service desk: 90% of tickets from first touch to resolution autonomously</a:t>
            </a:r>
            <a:br/>
            <a:r>
              <a:t>• Agent Command Center for governance across all deployed agents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4d → 8s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Finance query</a:t>
            </a:r>
            <a:br/>
            <a:r>
              <a:t>resolution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90%</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tickets</a:t>
            </a:r>
            <a:br/>
            <a:r>
              <a:t>autonomous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2.5x</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HR capacity</a:t>
            </a:r>
            <a:br/>
            <a:r>
              <a:t>per partner</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85%</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staff redeployed</a:t>
            </a:r>
            <a:br/>
            <a:r>
              <a:t>to higher value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Agents resolve finance, IT, and HR queries end-to-end</a:t>
            </a:r>
            <a:br/>
            <a:r>
              <a:t>→ Process redesign: treat workflow as the problem, not just speed</a:t>
            </a:r>
            <a:br/>
            <a:r>
              <a:t>→ 85% of displaced IT staff redeployed to SecOps, AI Ops, Executive Briefings</a:t>
            </a:r>
            <a:br/>
            <a:r>
              <a:t>→ 15% now manage the agentic workforce (monitoring, edge cases, governance)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Enterprise maturity: Customer support (Production, 67% auto-resolution)</a:t>
            </a:r>
            <a:br/>
            <a:r>
              <a:t>• Code review (Production, 4.2 hrs saved/dev/week)</a:t>
            </a:r>
            <a:br/>
            <a:r>
              <a:t>• ServiceNow proves process automation has moved from research to production at scale</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Finance resolution: 4 days → 8 seconds, 90% IT tickets autonomous</a:t>
            </a:r>
            <a:br/>
            <a:r>
              <a:t>• HR capacity 2.5x per partner, 85% IT staff redeployed</a:t>
            </a:r>
            <a:br/>
            <a:r>
              <a:t>• Revenue: $3.77B Q1 2026 (+22% YoY) — Agent Command Center for governance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a:t>
            </a:r>
            <a:br/>
            <a:r>
              <a:t>Now Platform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Governance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 Command</a:t>
            </a:r>
            <a:br/>
            <a:r>
              <a:t>Center</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14K → 30K employees</a:t>
            </a:r>
            <a:br/>
            <a:r>
              <a:t>without ops growth</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Revenue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$3.77B Q1 2026</a:t>
            </a:r>
            <a:br/>
            <a:r>
              <a:t>22% YoY growth</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Security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31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UC21 | Cognizant — Multi-Agent Platform for 350K Employees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Employees toggling between multiple portals and disconnected systems</a:t>
            </a:r>
            <a:br/>
            <a:r>
              <a:t>• Teams adopting AI tools in silos, increasing complexity</a:t>
            </a:r>
            <a:br/>
            <a:r>
              <a:t>• Support burden and governance risk from fragmented agent landscape</a:t>
            </a:r>
            <a:br/>
            <a:r>
              <a:t>• Simple tasks (leave, seating, transport) required navigating multiple apps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OneCognizant (1C): single AI-powered digital front door</a:t>
            </a:r>
            <a:br/>
            <a:r>
              <a:t>• Neuro AI Multi-Agent Accelerator (neuro-san) for orchestration</a:t>
            </a:r>
            <a:br/>
            <a:r>
              <a:t>• Intelligent search surfaces actions based on associate behavior</a:t>
            </a:r>
            <a:br/>
            <a:r>
              <a:t>• Combined tasks in single interaction via coordinated agent workflows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350K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Users worldwide</a:t>
            </a:r>
            <a:br/>
            <a:r>
              <a:t>on single platform</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100s</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 apps</a:t>
            </a:r>
            <a:br/>
            <a:r>
              <a:t>unified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Single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front</a:t>
            </a:r>
            <a:br/>
            <a:r>
              <a:t>door</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Client Zero</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Proven internally</a:t>
            </a:r>
            <a:br/>
            <a:r>
              <a:t>before client use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Employee requests (leave, seating, HW/SW) handled via 1C</a:t>
            </a:r>
            <a:br/>
            <a:r>
              <a:t>→ Intelligent search suggests relevant actions based on behavior</a:t>
            </a:r>
            <a:br/>
            <a:r>
              <a:t>→ ServiceNow agents execute tasks within coordinated workflows</a:t>
            </a:r>
            <a:br/>
            <a:r>
              <a:t>→ Multiple requests combined in single interaction seamlessly</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AutoGen (~45K stars): multi-agent conversation, group chat, Microsoft backing</a:t>
            </a:r>
            <a:br/>
            <a:r>
              <a:t>• GitHub Copilot: $39/user/mo, 42% market share, GPT-4o + fine-tunes</a:t>
            </a:r>
            <a:br/>
            <a:r>
              <a:t>• 350K users = enterprise-scale proof of multi-agent platforms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Single digital front door unifying 100s of enterprise apps</a:t>
            </a:r>
            <a:br/>
            <a:r>
              <a:t>• Neuro-san multi-agent accelerator for rapid deployment</a:t>
            </a:r>
            <a:br/>
            <a:r>
              <a:t>• Client Zero model: proven internally before customer rollout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OneCognizant</a:t>
            </a:r>
            <a:br/>
            <a:r>
              <a:t>1C platform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Neuro-san</a:t>
            </a:r>
            <a:br/>
            <a:r>
              <a:t>multi-agent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 +</a:t>
            </a:r>
            <a:br/>
            <a:r>
              <a:t>enterprise apps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350K users</a:t>
            </a:r>
            <a:br/>
            <a:r>
              <a:t>worldwide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32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UC22 | Madrigal Pharma — Multi-Agent Research Platform</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Disconnected data sources across pharmaceutical research</a:t>
            </a:r>
            <a:br/>
            <a:r>
              <a:t>• Every data source has different formats, access patterns</a:t>
            </a:r>
            <a:br/>
            <a:r>
              <a:t>• Enterprise prototype-to-production gap measured in months</a:t>
            </a:r>
            <a:br/>
            <a:r>
              <a:t>• Research methods vary across the enterprise</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Multi-agentic platform with parallelizable tool calls</a:t>
            </a:r>
            <a:br/>
            <a:r>
              <a:t>• Data normalized from all sources into consistent tool interface</a:t>
            </a:r>
            <a:br/>
            <a:r>
              <a:t>• Modular skills: each defines how to approach a type of problem</a:t>
            </a:r>
            <a:br/>
            <a:r>
              <a:t>• New use cases = new skill, not increased orchestrator complexity</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Weeks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Prototype to</a:t>
            </a:r>
            <a:br/>
            <a:r>
              <a:t>production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Modular</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Skill-based</a:t>
            </a:r>
            <a:br/>
            <a:r>
              <a:t>architecture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Unified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All data sources</a:t>
            </a:r>
            <a:br/>
            <a:r>
              <a:t>normalized</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Scalable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New skill =</a:t>
            </a:r>
            <a:br/>
            <a:r>
              <a:t>new use case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Orchestrator loads the right skill at the right time for each query</a:t>
            </a:r>
            <a:br/>
            <a:r>
              <a:t>→ Each skill defines reasoning approach for a type of problem</a:t>
            </a:r>
            <a:br/>
            <a:r>
              <a:t>→ Data differences invisible to agents: normalized via consistent tool interface</a:t>
            </a:r>
            <a:br/>
            <a:r>
              <a:t>→ Production failures automatically feed back as new test cases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OpenHands skill loading: Project (.agents/skills) → User → Public</a:t>
            </a:r>
            <a:br/>
            <a:r>
              <a:t>• AgentDefinition: name, model, tools, skills, system prompt</a:t>
            </a:r>
            <a:br/>
            <a:r>
              <a:t>• New skill = new use case, no core architecture changes needed</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Prototype to production in weeks, not months</a:t>
            </a:r>
            <a:br/>
            <a:r>
              <a:t>• Production failures feed back as test cases for continuous improvement</a:t>
            </a:r>
            <a:br/>
            <a:r>
              <a:t>• Modular skill architecture with consistent tool interface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a:t>
            </a:r>
            <a:br/>
            <a:r>
              <a:t>DeepAgents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Deploy</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LangSmith Deploy</a:t>
            </a:r>
            <a:br/>
            <a:r>
              <a:t>managed service</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CI/CD</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GitHub auto-</a:t>
            </a:r>
            <a:br/>
            <a:r>
              <a:t>redeployment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Approach</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Anthropic skills</a:t>
            </a:r>
            <a:br/>
            <a:r>
              <a:t>modular pattern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33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07</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Automotive &amp; Technology</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In-vehicle agents, developer productivity, and code automation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sp>
        <p:nvSpPr>
          <p:cNvPr id="8" name="TextBox 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9" name="TextBox 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34 / 46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UC23 | Mercedes-Benz — Automotive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In-vehicle search and navigation requires natural language understanding</a:t>
            </a:r>
            <a:br/>
            <a:r>
              <a:t>• Drivers need hands-free, contextual assistance while driving</a:t>
            </a:r>
            <a:br/>
            <a:r>
              <a:t>• Personalized marketing at scale across global customer base</a:t>
            </a:r>
            <a:br/>
            <a:r>
              <a:t>• E-commerce integration into online storefront</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Conversational search and navigation in new CLA series cars</a:t>
            </a:r>
            <a:br/>
            <a:r>
              <a:t>• Google Cloud industry-tuned Automotive AI Agent</a:t>
            </a:r>
            <a:br/>
            <a:r>
              <a:t>• Gen AI-powered smart sales assistant for e-commerce</a:t>
            </a:r>
            <a:br/>
            <a:r>
              <a:t>• AI call centers with personalized marketing campaigns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CLA Series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First cars with</a:t>
            </a:r>
            <a:br/>
            <a:r>
              <a:t>Automotive AI Agent</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In-vehicle</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Conversational</a:t>
            </a:r>
            <a:br/>
            <a:r>
              <a:t>navigation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E-commerce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Smart sales</a:t>
            </a:r>
            <a:br/>
            <a:r>
              <a:t>assistant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Personalized</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AI marketing</a:t>
            </a:r>
            <a:br/>
            <a:r>
              <a:t>campaigns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Driver speaks naturally: 'Find the nearest charging station'</a:t>
            </a:r>
            <a:br/>
            <a:r>
              <a:t>→ Automotive AI Agent processes intent and provides contextual response</a:t>
            </a:r>
            <a:br/>
            <a:r>
              <a:t>→ Online storefront: smart assistant helps configure and purchase vehicles</a:t>
            </a:r>
            <a:br/>
            <a:r>
              <a:t>→ Call centers augmented with AI for personalized customer engagement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Customer agent maturity: Production — Klarna 2.3M, Intercom Fin, Zendesk</a:t>
            </a:r>
            <a:br/>
            <a:r>
              <a:t>• ROI benchmark: 67% resolution without human intervention</a:t>
            </a:r>
            <a:br/>
            <a:r>
              <a:t>• Google Cloud Automotive AI Agent for conversational search &amp; navigation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Mercedes CLA: smart sales assistant + AI call centers</a:t>
            </a:r>
            <a:br/>
            <a:r>
              <a:t>• Claude Agent SDK: native integration, strong reasoning, $15/$75 per 1M tokens</a:t>
            </a:r>
            <a:br/>
            <a:r>
              <a:t>• Production-tier automotive deployment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Cloud</a:t>
            </a:r>
            <a:br/>
            <a:r>
              <a:t>Automotive AI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 Gemini</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Channels</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In-vehicle +</a:t>
            </a:r>
            <a:br/>
            <a:r>
              <a:t>online + call center</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Vehicle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Mercedes CLA</a:t>
            </a:r>
            <a:br/>
            <a:r>
              <a:t>series launch</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Automotive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35 / 46</a:t>
            </a:r>
          </a:p>
        </p:txBody>
      </p:sp>
      <p:sp>
        <p:nvSpPr>
          <p:cNvPr id="43" name="Rounded Rectangle 42"/>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UC24 | Volkswagen — Multimodal In-Car Assistant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Drivers need quick answers about complex vehicle features</a:t>
            </a:r>
            <a:br/>
            <a:r>
              <a:t>• Owner's manuals are hundreds of pages, rarely consulted</a:t>
            </a:r>
            <a:br/>
            <a:r>
              <a:t>• Dashboard indicator lights confuse and alarm drivers</a:t>
            </a:r>
            <a:br/>
            <a:r>
              <a:t>• Traditional infotainment search is keyword-based and limited</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Virtual assistant in myVW app with Gemini multimodal capabilities</a:t>
            </a:r>
            <a:br/>
            <a:r>
              <a:t>• Drivers ask natural language questions about their vehicle</a:t>
            </a:r>
            <a:br/>
            <a:r>
              <a:t>• Point smartphone camera at dashboard for indicator light context</a:t>
            </a:r>
            <a:br/>
            <a:r>
              <a:t>• Instant visual recognition + explanation of cockpit indicators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Multimodal</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Camera +</a:t>
            </a:r>
            <a:br/>
            <a:r>
              <a:t>voice input</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Instant</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Indicator light</a:t>
            </a:r>
            <a:br/>
            <a:r>
              <a:t>explanations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Natural</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Language-based</a:t>
            </a:r>
            <a:br/>
            <a:r>
              <a:t>manual search</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myVW</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In-app virtual</a:t>
            </a:r>
            <a:br/>
            <a:r>
              <a:t>assistant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'How do I change a flat tire?' → step-by-step from owner's manual</a:t>
            </a:r>
            <a:br/>
            <a:r>
              <a:t>→ 'What does this indicator light mean?' → point camera, get explanation</a:t>
            </a:r>
            <a:br/>
            <a:r>
              <a:t>→ Gemini multimodal: processes both text queries and camera images</a:t>
            </a:r>
            <a:br/>
            <a:r>
              <a:t>→ Context-aware: knows the specific VW model and its features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Gemini multimodal: voice + camera for dashboard indicator recognition</a:t>
            </a:r>
            <a:br/>
            <a:r>
              <a:t>• Owner's manual as grounded knowledge base with vehicle-specific context</a:t>
            </a:r>
            <a:br/>
            <a:r>
              <a:t>• Same production-tier as Klarna (2.3M conversations)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Claude Agent SDK: simple API, strong reasoning</a:t>
            </a:r>
            <a:br/>
            <a:r>
              <a:t>• Enterprise pricing: $15/$75 per 1M tokens (Opus)</a:t>
            </a:r>
            <a:br/>
            <a:r>
              <a:t>• 67% resolution without human benchmark</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a:t>
            </a:r>
            <a:br/>
            <a:r>
              <a:t>multimodal</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Interface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myVW app</a:t>
            </a:r>
            <a:br/>
            <a:r>
              <a:t>virtual assistant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Input</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Voice + camera</a:t>
            </a:r>
            <a:br/>
            <a:r>
              <a:t>multimodal</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Knowledge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Owner's manual</a:t>
            </a:r>
            <a:br/>
            <a:r>
              <a:t>grounded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Automotive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36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UC25 | Wayfair — Code Agents for Developer Productivity</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Developer environment setup was time-consuming and inconsistent</a:t>
            </a:r>
            <a:br/>
            <a:r>
              <a:t>• Unit testing quality varied across teams</a:t>
            </a:r>
            <a:br/>
            <a:r>
              <a:t>• Developers spent time on repetitive tasks instead of satisfying work</a:t>
            </a:r>
            <a:br/>
            <a:r>
              <a:t>• Product catalog enrichment was slow and manual</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Code Assist agents for development lifecycle automation</a:t>
            </a:r>
            <a:br/>
            <a:r>
              <a:t>• Environment setup agents reduce configuration time by 55%</a:t>
            </a:r>
            <a:br/>
            <a:r>
              <a:t>• Automated product catalog enrichment updates attributes 5x faster</a:t>
            </a:r>
            <a:br/>
            <a:r>
              <a:t>• 60% of developers report focusing on more satisfying work</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environment</a:t>
            </a:r>
            <a:br/>
            <a:r>
              <a:t>setup</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48%</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Code performance</a:t>
            </a:r>
            <a:br/>
            <a:r>
              <a:t>improvement</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5x</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Product attribute</a:t>
            </a:r>
            <a:br/>
            <a:r>
              <a:t>update speed</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Devs on more</a:t>
            </a:r>
            <a:br/>
            <a:r>
              <a:t>satisfying work</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Code Assist understands Wayfair's codebase, standards, conventions</a:t>
            </a:r>
            <a:br/>
            <a:r>
              <a:t>→ Agent sets up dev environment with correct dependencies and configs</a:t>
            </a:r>
            <a:br/>
            <a:r>
              <a:t>→ Unit test agent improves code performance during testing</a:t>
            </a:r>
            <a:br/>
            <a:r>
              <a:t>→ Catalog agent enriches product attributes across millions of items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Code review tools: CodeRabbit $24/mo (#1 SWE-bench, 43% more issues)</a:t>
            </a:r>
            <a:br/>
            <a:r>
              <a:t>• GitHub Copilot $39/mo (42% market share), Sourcery $30/mo, Codacy $15/mo</a:t>
            </a:r>
            <a:br/>
            <a:r>
              <a:t>• CodeRabbit false positive rate: ~15%</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55% faster environment setup, 48% code performance improvement</a:t>
            </a:r>
            <a:br/>
            <a:r>
              <a:t>• 5x faster product attribute enrichment</a:t>
            </a:r>
            <a:br/>
            <a:r>
              <a:t>• 60% more satisfying developer experience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Code</a:t>
            </a:r>
            <a:br/>
            <a:r>
              <a:t>Assist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Dev environment</a:t>
            </a:r>
            <a:br/>
            <a:r>
              <a:t>+ catalog ops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Codebase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Custom-trained on</a:t>
            </a:r>
            <a:br/>
            <a:r>
              <a:t>Wayfair standards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Impact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Developer</a:t>
            </a:r>
            <a:br/>
            <a:r>
              <a:t>productivity gains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Technology</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37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UC26 | Regnology — Ticket-to-Code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Bug tickets require manual analysis to understand and resolve</a:t>
            </a:r>
            <a:br/>
            <a:r>
              <a:t>• Conversion from ticket description to actionable code is slow</a:t>
            </a:r>
            <a:br/>
            <a:r>
              <a:t>• Regulatory technology requires high accuracy and compliance</a:t>
            </a:r>
            <a:br/>
            <a:r>
              <a:t>• Development process bottlenecked at ticket triage and implementation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Ticket-to-Code Writer agent built with Gemini 1.5 Pro</a:t>
            </a:r>
            <a:br/>
            <a:r>
              <a:t>• Automatically converts bug tickets into actionable code</a:t>
            </a:r>
            <a:br/>
            <a:r>
              <a:t>• Understands regulatory context for compliance-aware fixes</a:t>
            </a:r>
            <a:br/>
            <a:r>
              <a:t>• Significantly streamlines the software development process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Auto</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Bug ticket to</a:t>
            </a:r>
            <a:br/>
            <a:r>
              <a:t>code conversion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Gemini 1.5</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 model</a:t>
            </a:r>
            <a:br/>
            <a:r>
              <a:t>powered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Streamlined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Development</a:t>
            </a:r>
            <a:br/>
            <a:r>
              <a:t>process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RegTech</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Compliance-aware</a:t>
            </a:r>
            <a:br/>
            <a:r>
              <a:t>code generation</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bug ticket: parse description, reproduction steps, context</a:t>
            </a:r>
            <a:br/>
            <a:r>
              <a:t>→ Gemini 1.5 Pro analyzes codebase to locate relevant files</a:t>
            </a:r>
            <a:br/>
            <a:r>
              <a:t>→ Agent generates code fix aligned with coding standards</a:t>
            </a:r>
            <a:br/>
            <a:r>
              <a:t>→ Developer reviews and approves agent-generated fix</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Code agent maturity: Production — CodeRabbit, Copilot, Sourcery, CodeGuru</a:t>
            </a:r>
            <a:br/>
            <a:r>
              <a:t>• ROI: 4.2 hrs saved/dev/week (GitHub survey)</a:t>
            </a:r>
            <a:br/>
            <a:r>
              <a:t>• OpenHands (~75K stars): CodeActAgent + Event Stream, MCP integration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Same CodeActAgent pattern powers ticket-to-code pipeline</a:t>
            </a:r>
            <a:br/>
            <a:r>
              <a:t>• Gemini 1.5 Pro with long context for regulatory understanding</a:t>
            </a:r>
            <a:br/>
            <a:r>
              <a:t>• Code execution sandbox + browser automation for testing</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1.5 Pro</a:t>
            </a:r>
            <a:br/>
            <a:r>
              <a:t>long context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Pipeline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Ticket → analysis</a:t>
            </a:r>
            <a:br/>
            <a:r>
              <a:t>→ code fix</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Domain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Regulatory</a:t>
            </a:r>
            <a:br/>
            <a:r>
              <a:t>technology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Review</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Human approval</a:t>
            </a:r>
            <a:br/>
            <a:r>
              <a:t>required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Technology</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38 / 46</a:t>
            </a:r>
          </a:p>
        </p:txBody>
      </p:sp>
      <p:sp>
        <p:nvSpPr>
          <p:cNvPr id="44" name="Rounded Rectangle 43"/>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Customer Pain Point Mapping</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777240"/>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32104"/>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"We process thousands of documents manually"</a:t>
            </a:r>
          </a:p>
        </p:txBody>
      </p:sp>
      <p:sp>
        <p:nvSpPr>
          <p:cNvPr id="7" name="TextBox 6"/>
          <p:cNvSpPr txBox="1"/>
          <p:nvPr/>
        </p:nvSpPr>
        <p:spPr>
          <a:xfrm>
            <a:off x="2743200" y="832104"/>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Agentic Document Processing</a:t>
            </a:r>
          </a:p>
        </p:txBody>
      </p:sp>
      <p:sp>
        <p:nvSpPr>
          <p:cNvPr id="8" name="TextBox 7"/>
          <p:cNvSpPr txBox="1"/>
          <p:nvPr/>
        </p:nvSpPr>
        <p:spPr>
          <a:xfrm>
            <a:off x="365760" y="1051560"/>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Multi-agent pipeline: classify, extract, validate, route. 73% autonomous. Claims, invoices, contracts.</a:t>
            </a:r>
          </a:p>
        </p:txBody>
      </p:sp>
      <p:sp>
        <p:nvSpPr>
          <p:cNvPr id="9" name="TextBox 8"/>
          <p:cNvSpPr txBox="1"/>
          <p:nvPr/>
        </p:nvSpPr>
        <p:spPr>
          <a:xfrm>
            <a:off x="5669280" y="832104"/>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UC01 UC03 UC04</a:t>
            </a:r>
          </a:p>
        </p:txBody>
      </p:sp>
      <p:sp>
        <p:nvSpPr>
          <p:cNvPr id="10" name="Rectangle 9"/>
          <p:cNvSpPr/>
          <p:nvPr/>
        </p:nvSpPr>
        <p:spPr>
          <a:xfrm>
            <a:off x="274320" y="1453896"/>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508760"/>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support team can't scale with volume"</a:t>
            </a:r>
          </a:p>
        </p:txBody>
      </p:sp>
      <p:sp>
        <p:nvSpPr>
          <p:cNvPr id="12" name="TextBox 11"/>
          <p:cNvSpPr txBox="1"/>
          <p:nvPr/>
        </p:nvSpPr>
        <p:spPr>
          <a:xfrm>
            <a:off x="2743200" y="1508760"/>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Customer Service</a:t>
            </a:r>
          </a:p>
        </p:txBody>
      </p:sp>
      <p:sp>
        <p:nvSpPr>
          <p:cNvPr id="13" name="TextBox 12"/>
          <p:cNvSpPr txBox="1"/>
          <p:nvPr/>
        </p:nvSpPr>
        <p:spPr>
          <a:xfrm>
            <a:off x="365760" y="1728216"/>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AI agents handle tier-1 across all channels. 40-60% deflection. 99.2% autonomous ticket resolution.</a:t>
            </a:r>
          </a:p>
        </p:txBody>
      </p:sp>
      <p:sp>
        <p:nvSpPr>
          <p:cNvPr id="14" name="TextBox 13"/>
          <p:cNvSpPr txBox="1"/>
          <p:nvPr/>
        </p:nvSpPr>
        <p:spPr>
          <a:xfrm>
            <a:off x="5669280" y="1508760"/>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UC12 UC20 UC06</a:t>
            </a:r>
          </a:p>
        </p:txBody>
      </p:sp>
      <p:sp>
        <p:nvSpPr>
          <p:cNvPr id="15" name="Rectangle 14"/>
          <p:cNvSpPr/>
          <p:nvPr/>
        </p:nvSpPr>
        <p:spPr>
          <a:xfrm>
            <a:off x="274320" y="2130552"/>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185416"/>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"Root cause analysis takes days, not hours"</a:t>
            </a:r>
          </a:p>
        </p:txBody>
      </p:sp>
      <p:sp>
        <p:nvSpPr>
          <p:cNvPr id="17" name="TextBox 16"/>
          <p:cNvSpPr txBox="1"/>
          <p:nvPr/>
        </p:nvSpPr>
        <p:spPr>
          <a:xfrm>
            <a:off x="2743200" y="2185416"/>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Manufacturing Reasoner Agents</a:t>
            </a:r>
          </a:p>
        </p:txBody>
      </p:sp>
      <p:sp>
        <p:nvSpPr>
          <p:cNvPr id="18" name="TextBox 17"/>
          <p:cNvSpPr txBox="1"/>
          <p:nvPr/>
        </p:nvSpPr>
        <p:spPr>
          <a:xfrm>
            <a:off x="365760" y="2404872"/>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IoT-connected agents diagnose issues in minutes via multi-LLM workflow. 88% effort reduction.</a:t>
            </a:r>
          </a:p>
        </p:txBody>
      </p:sp>
      <p:sp>
        <p:nvSpPr>
          <p:cNvPr id="19" name="TextBox 18"/>
          <p:cNvSpPr txBox="1"/>
          <p:nvPr/>
        </p:nvSpPr>
        <p:spPr>
          <a:xfrm>
            <a:off x="5669280" y="2185416"/>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UC14 UC15 UC16</a:t>
            </a:r>
          </a:p>
        </p:txBody>
      </p:sp>
      <p:sp>
        <p:nvSpPr>
          <p:cNvPr id="20" name="Rectangle 19"/>
          <p:cNvSpPr/>
          <p:nvPr/>
        </p:nvSpPr>
        <p:spPr>
          <a:xfrm>
            <a:off x="274320" y="2807208"/>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2862072"/>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supply chain exceptions are killing us"</a:t>
            </a:r>
          </a:p>
        </p:txBody>
      </p:sp>
      <p:sp>
        <p:nvSpPr>
          <p:cNvPr id="22" name="TextBox 21"/>
          <p:cNvSpPr txBox="1"/>
          <p:nvPr/>
        </p:nvSpPr>
        <p:spPr>
          <a:xfrm>
            <a:off x="2743200" y="2862072"/>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Control Tower</a:t>
            </a:r>
          </a:p>
        </p:txBody>
      </p:sp>
      <p:sp>
        <p:nvSpPr>
          <p:cNvPr id="23" name="TextBox 22"/>
          <p:cNvSpPr txBox="1"/>
          <p:nvPr/>
        </p:nvSpPr>
        <p:spPr>
          <a:xfrm>
            <a:off x="365760" y="3081528"/>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Proactive detection + auto-resolution with confidence thresholds. 73% exceptions resolved autonomously.</a:t>
            </a:r>
          </a:p>
        </p:txBody>
      </p:sp>
      <p:sp>
        <p:nvSpPr>
          <p:cNvPr id="24" name="TextBox 23"/>
          <p:cNvSpPr txBox="1"/>
          <p:nvPr/>
        </p:nvSpPr>
        <p:spPr>
          <a:xfrm>
            <a:off x="5669280" y="2862072"/>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UC10 UC11 UC12</a:t>
            </a:r>
          </a:p>
        </p:txBody>
      </p:sp>
      <p:sp>
        <p:nvSpPr>
          <p:cNvPr id="25" name="Rectangle 24"/>
          <p:cNvSpPr/>
          <p:nvPr/>
        </p:nvSpPr>
        <p:spPr>
          <a:xfrm>
            <a:off x="274320" y="3483864"/>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3538728"/>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"Underwriting is too slow, we lose deals"</a:t>
            </a:r>
          </a:p>
        </p:txBody>
      </p:sp>
      <p:sp>
        <p:nvSpPr>
          <p:cNvPr id="27" name="TextBox 26"/>
          <p:cNvSpPr txBox="1"/>
          <p:nvPr/>
        </p:nvSpPr>
        <p:spPr>
          <a:xfrm>
            <a:off x="2743200" y="3538728"/>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Underwriting Pipeline</a:t>
            </a:r>
          </a:p>
        </p:txBody>
      </p:sp>
      <p:sp>
        <p:nvSpPr>
          <p:cNvPr id="28" name="TextBox 27"/>
          <p:cNvSpPr txBox="1"/>
          <p:nvPr/>
        </p:nvSpPr>
        <p:spPr>
          <a:xfrm>
            <a:off x="365760" y="3758184"/>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6 agents in sequence: 48 hours → 3.7 minutes for standard risks. 6x throughput increase.</a:t>
            </a:r>
          </a:p>
        </p:txBody>
      </p:sp>
      <p:sp>
        <p:nvSpPr>
          <p:cNvPr id="29" name="TextBox 28"/>
          <p:cNvSpPr txBox="1"/>
          <p:nvPr/>
        </p:nvSpPr>
        <p:spPr>
          <a:xfrm>
            <a:off x="5669280" y="3538728"/>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UC02 UC04 UC05</a:t>
            </a:r>
          </a:p>
        </p:txBody>
      </p:sp>
      <p:sp>
        <p:nvSpPr>
          <p:cNvPr id="30" name="Rectangle 29"/>
          <p:cNvSpPr/>
          <p:nvPr/>
        </p:nvSpPr>
        <p:spPr>
          <a:xfrm>
            <a:off x="274320" y="4160520"/>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215384"/>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"Developers waste time on repetitive tasks"</a:t>
            </a:r>
          </a:p>
        </p:txBody>
      </p:sp>
      <p:sp>
        <p:nvSpPr>
          <p:cNvPr id="32" name="TextBox 31"/>
          <p:cNvSpPr txBox="1"/>
          <p:nvPr/>
        </p:nvSpPr>
        <p:spPr>
          <a:xfrm>
            <a:off x="2743200" y="4215384"/>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Code &amp; SDLC Agents</a:t>
            </a:r>
          </a:p>
        </p:txBody>
      </p:sp>
      <p:sp>
        <p:nvSpPr>
          <p:cNvPr id="33" name="TextBox 32"/>
          <p:cNvSpPr txBox="1"/>
          <p:nvPr/>
        </p:nvSpPr>
        <p:spPr>
          <a:xfrm>
            <a:off x="365760" y="4434840"/>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Ticket-to-code, code review, test generation. 55% faster setup, 30-50% productivity gains.</a:t>
            </a:r>
          </a:p>
        </p:txBody>
      </p:sp>
      <p:sp>
        <p:nvSpPr>
          <p:cNvPr id="34" name="TextBox 33"/>
          <p:cNvSpPr txBox="1"/>
          <p:nvPr/>
        </p:nvSpPr>
        <p:spPr>
          <a:xfrm>
            <a:off x="5669280" y="4215384"/>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UC25 UC26</a:t>
            </a:r>
          </a:p>
        </p:txBody>
      </p:sp>
      <p:sp>
        <p:nvSpPr>
          <p:cNvPr id="35" name="Rectangle 34"/>
          <p:cNvSpPr/>
          <p:nvPr/>
        </p:nvSpPr>
        <p:spPr>
          <a:xfrm>
            <a:off x="274320" y="4837176"/>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4892040"/>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clinical workflows don't scale"</a:t>
            </a:r>
          </a:p>
        </p:txBody>
      </p:sp>
      <p:sp>
        <p:nvSpPr>
          <p:cNvPr id="37" name="TextBox 36"/>
          <p:cNvSpPr txBox="1"/>
          <p:nvPr/>
        </p:nvSpPr>
        <p:spPr>
          <a:xfrm>
            <a:off x="2743200" y="4892040"/>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Clinical Reasoning Agents</a:t>
            </a:r>
          </a:p>
        </p:txBody>
      </p:sp>
      <p:sp>
        <p:nvSpPr>
          <p:cNvPr id="38" name="TextBox 37"/>
          <p:cNvSpPr txBox="1"/>
          <p:nvPr/>
        </p:nvSpPr>
        <p:spPr>
          <a:xfrm>
            <a:off x="365760" y="5111496"/>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5-agent systems approaching expert performance. 211-tool therapeutic reasoning. DMTA automation.</a:t>
            </a:r>
          </a:p>
        </p:txBody>
      </p:sp>
      <p:sp>
        <p:nvSpPr>
          <p:cNvPr id="39" name="TextBox 38"/>
          <p:cNvSpPr txBox="1"/>
          <p:nvPr/>
        </p:nvSpPr>
        <p:spPr>
          <a:xfrm>
            <a:off x="5669280" y="4892040"/>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UC17 UC18 UC19</a:t>
            </a:r>
          </a:p>
        </p:txBody>
      </p:sp>
      <p:sp>
        <p:nvSpPr>
          <p:cNvPr id="40" name="Rectangle 39"/>
          <p:cNvSpPr/>
          <p:nvPr/>
        </p:nvSpPr>
        <p:spPr>
          <a:xfrm>
            <a:off x="274320" y="5513832"/>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5568696"/>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"We can't get insights from our data fast enough"</a:t>
            </a:r>
          </a:p>
        </p:txBody>
      </p:sp>
      <p:sp>
        <p:nvSpPr>
          <p:cNvPr id="42" name="TextBox 41"/>
          <p:cNvSpPr txBox="1"/>
          <p:nvPr/>
        </p:nvSpPr>
        <p:spPr>
          <a:xfrm>
            <a:off x="2743200" y="5568696"/>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Multi-Agent Research &amp; BI</a:t>
            </a:r>
          </a:p>
        </p:txBody>
      </p:sp>
      <p:sp>
        <p:nvSpPr>
          <p:cNvPr id="43" name="TextBox 42"/>
          <p:cNvSpPr txBox="1"/>
          <p:nvPr/>
        </p:nvSpPr>
        <p:spPr>
          <a:xfrm>
            <a:off x="365760" y="5788152"/>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Agentic search, synthesis, and analysis. Days → minutes for equity research. 98% research time reduction.</a:t>
            </a:r>
          </a:p>
        </p:txBody>
      </p:sp>
      <p:sp>
        <p:nvSpPr>
          <p:cNvPr id="44" name="TextBox 43"/>
          <p:cNvSpPr txBox="1"/>
          <p:nvPr/>
        </p:nvSpPr>
        <p:spPr>
          <a:xfrm>
            <a:off x="5669280" y="5568696"/>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UC07 UC09 UC22</a:t>
            </a:r>
          </a:p>
        </p:txBody>
      </p:sp>
      <p:sp>
        <p:nvSpPr>
          <p:cNvPr id="45" name="TextBox 44"/>
          <p:cNvSpPr txBox="1"/>
          <p:nvPr/>
        </p:nvSpPr>
        <p:spPr>
          <a:xfrm>
            <a:off x="365760" y="6263640"/>
            <a:ext cx="6400800" cy="228600"/>
          </a:xfrm>
          <a:prstGeom prst="rect">
            <a:avLst/>
          </a:prstGeom>
          <a:noFill/>
        </p:spPr>
        <p:txBody>
          <a:bodyPr wrap="square">
            <a:spAutoFit/>
          </a:bodyPr>
          <a:lstStyle/>
          <a:p>
            <a:pPr algn="l">
              <a:spcAft>
                <a:spcPts val="200"/>
              </a:spcAft>
              <a:defRPr sz="650" b="0">
                <a:solidFill>
                  <a:srgbClr val="0A1628"/>
                </a:solidFill>
                <a:latin typeface="Calibri"/>
              </a:defRPr>
            </a:pPr>
            <a:r>
              <a:t>Each pain point maps to production-validated use cases with measurable ROI — see referenced UCs for details</a:t>
            </a:r>
          </a:p>
        </p:txBody>
      </p:sp>
      <p:sp>
        <p:nvSpPr>
          <p:cNvPr id="46" name="TextBox 45"/>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7" name="TextBox 46"/>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39 / 46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Success Stories &amp; ROI Narratives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ROI BY USE CASE CATEGORY (MEDIAN PAYBACK PERIOD)</a:t>
            </a:r>
          </a:p>
        </p:txBody>
      </p:sp>
      <p:sp>
        <p:nvSpPr>
          <p:cNvPr id="6" name="Rectangle 5"/>
          <p:cNvSpPr/>
          <p:nvPr/>
        </p:nvSpPr>
        <p:spPr>
          <a:xfrm>
            <a:off x="274320" y="1051560"/>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24712"/>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3 Months</a:t>
            </a:r>
          </a:p>
        </p:txBody>
      </p:sp>
      <p:sp>
        <p:nvSpPr>
          <p:cNvPr id="8" name="TextBox 7"/>
          <p:cNvSpPr txBox="1"/>
          <p:nvPr/>
        </p:nvSpPr>
        <p:spPr>
          <a:xfrm>
            <a:off x="1554480" y="1124712"/>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Document-Intensive Back-Office</a:t>
            </a:r>
          </a:p>
        </p:txBody>
      </p:sp>
      <p:sp>
        <p:nvSpPr>
          <p:cNvPr id="9" name="TextBox 8"/>
          <p:cNvSpPr txBox="1"/>
          <p:nvPr/>
        </p:nvSpPr>
        <p:spPr>
          <a:xfrm>
            <a:off x="365760" y="1417320"/>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Claims processing, invoice reconciliation, contract review, regulatory filing. Agent accuracy &gt;90%. Allianz: 29d→3.5d | Clariva: 73% autonomous | AIG: 370K submissions</a:t>
            </a:r>
          </a:p>
        </p:txBody>
      </p:sp>
      <p:sp>
        <p:nvSpPr>
          <p:cNvPr id="10" name="Rectangle 9"/>
          <p:cNvSpPr/>
          <p:nvPr/>
        </p:nvSpPr>
        <p:spPr>
          <a:xfrm>
            <a:off x="274320" y="2039112"/>
            <a:ext cx="7619695" cy="9144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112264"/>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4-5 Months</a:t>
            </a:r>
          </a:p>
        </p:txBody>
      </p:sp>
      <p:sp>
        <p:nvSpPr>
          <p:cNvPr id="12" name="TextBox 11"/>
          <p:cNvSpPr txBox="1"/>
          <p:nvPr/>
        </p:nvSpPr>
        <p:spPr>
          <a:xfrm>
            <a:off x="1554480" y="2112264"/>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Software Development Lifecycle</a:t>
            </a:r>
          </a:p>
        </p:txBody>
      </p:sp>
      <p:sp>
        <p:nvSpPr>
          <p:cNvPr id="13" name="TextBox 12"/>
          <p:cNvSpPr txBox="1"/>
          <p:nvPr/>
        </p:nvSpPr>
        <p:spPr>
          <a:xfrm>
            <a:off x="365760" y="2404872"/>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Code review, test generation, ticket-to-code, dependency analysis. 30-50% productivity gains. Wayfair: 55% faster setup | Regnology: auto bug-to-code | Turing: 30% gains</a:t>
            </a:r>
          </a:p>
        </p:txBody>
      </p:sp>
      <p:sp>
        <p:nvSpPr>
          <p:cNvPr id="14" name="Rectangle 13"/>
          <p:cNvSpPr/>
          <p:nvPr/>
        </p:nvSpPr>
        <p:spPr>
          <a:xfrm>
            <a:off x="274320" y="3026664"/>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099816"/>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5-6 Months</a:t>
            </a:r>
          </a:p>
        </p:txBody>
      </p:sp>
      <p:sp>
        <p:nvSpPr>
          <p:cNvPr id="16" name="TextBox 15"/>
          <p:cNvSpPr txBox="1"/>
          <p:nvPr/>
        </p:nvSpPr>
        <p:spPr>
          <a:xfrm>
            <a:off x="1554480" y="3099816"/>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Customer Service Tier-1 Deflection</a:t>
            </a:r>
          </a:p>
        </p:txBody>
      </p:sp>
      <p:sp>
        <p:nvSpPr>
          <p:cNvPr id="17" name="TextBox 16"/>
          <p:cNvSpPr txBox="1"/>
          <p:nvPr/>
        </p:nvSpPr>
        <p:spPr>
          <a:xfrm>
            <a:off x="365760" y="3392424"/>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Agents with real CRM/billing access achieving 40-60% deflection. ServiceNow: 90% IT autonomous | European 3PL: 99.2% resolution | Wells Fargo: 24/7 omnichannel</a:t>
            </a:r>
          </a:p>
        </p:txBody>
      </p:sp>
      <p:sp>
        <p:nvSpPr>
          <p:cNvPr id="18" name="Rectangle 17"/>
          <p:cNvSpPr/>
          <p:nvPr/>
        </p:nvSpPr>
        <p:spPr>
          <a:xfrm>
            <a:off x="274320" y="4014216"/>
            <a:ext cx="7619695" cy="9144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087368"/>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6 Months</a:t>
            </a:r>
          </a:p>
        </p:txBody>
      </p:sp>
      <p:sp>
        <p:nvSpPr>
          <p:cNvPr id="20" name="TextBox 19"/>
          <p:cNvSpPr txBox="1"/>
          <p:nvPr/>
        </p:nvSpPr>
        <p:spPr>
          <a:xfrm>
            <a:off x="1554480" y="4087368"/>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IT Operations &amp; Monitoring</a:t>
            </a:r>
          </a:p>
        </p:txBody>
      </p:sp>
      <p:sp>
        <p:nvSpPr>
          <p:cNvPr id="21" name="TextBox 20"/>
          <p:cNvSpPr txBox="1"/>
          <p:nvPr/>
        </p:nvSpPr>
        <p:spPr>
          <a:xfrm>
            <a:off x="365760" y="4379976"/>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Automated incident triage, runbook execution, cost anomaly investigation. ServiceNow: 4d→8s finance queries | OPLOG: 35% faster sales cycles | Apollo: 7h→10min RCA</a:t>
            </a:r>
          </a:p>
        </p:txBody>
      </p:sp>
      <p:sp>
        <p:nvSpPr>
          <p:cNvPr id="22" name="Rectangle 21"/>
          <p:cNvSpPr/>
          <p:nvPr/>
        </p:nvSpPr>
        <p:spPr>
          <a:xfrm>
            <a:off x="365760"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24" name="TextBox 23"/>
          <p:cNvSpPr txBox="1"/>
          <p:nvPr/>
        </p:nvSpPr>
        <p:spPr>
          <a:xfrm>
            <a:off x="365760"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Agentic AI market</a:t>
            </a:r>
            <a:br/>
            <a:r>
              <a:t>by 2030 (Gartner)</a:t>
            </a:r>
          </a:p>
        </p:txBody>
      </p:sp>
      <p:sp>
        <p:nvSpPr>
          <p:cNvPr id="25" name="Rectangle 24"/>
          <p:cNvSpPr/>
          <p:nvPr/>
        </p:nvSpPr>
        <p:spPr>
          <a:xfrm>
            <a:off x="224027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24027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27" name="TextBox 26"/>
          <p:cNvSpPr txBox="1"/>
          <p:nvPr/>
        </p:nvSpPr>
        <p:spPr>
          <a:xfrm>
            <a:off x="224027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Enterprises with</a:t>
            </a:r>
            <a:br/>
            <a:r>
              <a:t>agent in production</a:t>
            </a:r>
          </a:p>
        </p:txBody>
      </p:sp>
      <p:sp>
        <p:nvSpPr>
          <p:cNvPr id="28" name="Rectangle 27"/>
          <p:cNvSpPr/>
          <p:nvPr/>
        </p:nvSpPr>
        <p:spPr>
          <a:xfrm>
            <a:off x="411479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79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245%</a:t>
            </a:r>
          </a:p>
        </p:txBody>
      </p:sp>
      <p:sp>
        <p:nvSpPr>
          <p:cNvPr id="30" name="TextBox 29"/>
          <p:cNvSpPr txBox="1"/>
          <p:nvPr/>
        </p:nvSpPr>
        <p:spPr>
          <a:xfrm>
            <a:off x="411479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Highest documented</a:t>
            </a:r>
            <a:br/>
            <a:r>
              <a:t>ROI (vehicle claims)</a:t>
            </a:r>
          </a:p>
        </p:txBody>
      </p:sp>
      <p:sp>
        <p:nvSpPr>
          <p:cNvPr id="31" name="Rectangle 30"/>
          <p:cNvSpPr/>
          <p:nvPr/>
        </p:nvSpPr>
        <p:spPr>
          <a:xfrm>
            <a:off x="598931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8931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€300M</a:t>
            </a:r>
          </a:p>
        </p:txBody>
      </p:sp>
      <p:sp>
        <p:nvSpPr>
          <p:cNvPr id="33" name="TextBox 32"/>
          <p:cNvSpPr txBox="1"/>
          <p:nvPr/>
        </p:nvSpPr>
        <p:spPr>
          <a:xfrm>
            <a:off x="598931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Largest profit target</a:t>
            </a:r>
            <a:br/>
            <a:r>
              <a:t>(Allianz Partners)</a:t>
            </a:r>
          </a:p>
        </p:txBody>
      </p:sp>
      <p:sp>
        <p:nvSpPr>
          <p:cNvPr id="34" name="TextBox 33"/>
          <p:cNvSpPr txBox="1"/>
          <p:nvPr/>
        </p:nvSpPr>
        <p:spPr>
          <a:xfrm>
            <a:off x="365760" y="6126480"/>
            <a:ext cx="6400800" cy="228600"/>
          </a:xfrm>
          <a:prstGeom prst="rect">
            <a:avLst/>
          </a:prstGeom>
          <a:noFill/>
        </p:spPr>
        <p:txBody>
          <a:bodyPr wrap="square">
            <a:spAutoFit/>
          </a:bodyPr>
          <a:lstStyle/>
          <a:p>
            <a:pPr algn="l">
              <a:spcAft>
                <a:spcPts val="200"/>
              </a:spcAft>
              <a:defRPr sz="600" b="0">
                <a:solidFill>
                  <a:srgbClr val="666666"/>
                </a:solidFill>
                <a:latin typeface="Calibri"/>
              </a:defRPr>
            </a:pPr>
            <a:r>
              <a:t>Source: Gartner Agentic AI Forecast 2025, LogicOverdrive Enterprise Survey 2026, company earnings reports</a:t>
            </a:r>
          </a:p>
        </p:txBody>
      </p:sp>
      <p:pic>
        <p:nvPicPr>
          <p:cNvPr id="35" name="Picture 34" descr="image.jpg"/>
          <p:cNvPicPr>
            <a:picLocks noChangeAspect="1"/>
          </p:cNvPicPr>
          <p:nvPr/>
        </p:nvPicPr>
        <p:blipFill>
          <a:blip r:embed="rId2"/>
          <a:stretch>
            <a:fillRect/>
          </a:stretch>
        </p:blipFill>
        <p:spPr>
          <a:xfrm>
            <a:off x="8076895" y="0"/>
            <a:ext cx="4114800" cy="6858000"/>
          </a:xfrm>
          <a:prstGeom prst="rect">
            <a:avLst/>
          </a:prstGeom>
        </p:spPr>
      </p:pic>
      <p:sp>
        <p:nvSpPr>
          <p:cNvPr id="36" name="TextBox 35"/>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37" name="TextBox 36"/>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40 / 46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Competitive Positioning &amp; Objection Handling</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800" b="1">
                <a:solidFill>
                  <a:srgbClr val="0A1628"/>
                </a:solidFill>
                <a:latin typeface="Calibri"/>
              </a:defRPr>
            </a:pPr>
            <a:r>
              <a:t>WHY AGENTIC AI — NOT TRADITIONAL AUTOMATION</a:t>
            </a:r>
          </a:p>
        </p:txBody>
      </p:sp>
      <p:sp>
        <p:nvSpPr>
          <p:cNvPr id="6" name="TextBox 5"/>
          <p:cNvSpPr txBox="1"/>
          <p:nvPr/>
        </p:nvSpPr>
        <p:spPr>
          <a:xfrm>
            <a:off x="365760" y="1005840"/>
            <a:ext cx="3520440" cy="2194560"/>
          </a:xfrm>
          <a:prstGeom prst="rect">
            <a:avLst/>
          </a:prstGeom>
          <a:noFill/>
        </p:spPr>
        <p:txBody>
          <a:bodyPr wrap="square">
            <a:spAutoFit/>
          </a:bodyPr>
          <a:lstStyle/>
          <a:p>
            <a:pPr algn="l">
              <a:spcAft>
                <a:spcPts val="200"/>
              </a:spcAft>
              <a:defRPr sz="750" b="0">
                <a:solidFill>
                  <a:srgbClr val="0A1628"/>
                </a:solidFill>
                <a:latin typeface="Calibri"/>
              </a:defRPr>
            </a:pPr>
            <a:r>
              <a:t>• RPA breaks when document formats change; agents reason over variability</a:t>
            </a:r>
            <a:br/>
            <a:r>
              <a:t>• Chatbots wait for prompts; agents monitor, detect, and act proactively</a:t>
            </a:r>
            <a:br/>
            <a:r>
              <a:t>• Rule engines need reprogramming; agents adapt via LLM reasoning</a:t>
            </a:r>
            <a:br/>
            <a:r>
              <a:t>• Single-model AI gives one answer; multi-agent pipelines verify and improve</a:t>
            </a:r>
            <a:br/>
            <a:r>
              <a:t>• Traditional automation scales linearly; agents decouple headcount from volume</a:t>
            </a:r>
            <a:br/>
            <a:r>
              <a:t>• Static dashboards report problems; control tower agents resolve them</a:t>
            </a:r>
          </a:p>
        </p:txBody>
      </p:sp>
      <p:sp>
        <p:nvSpPr>
          <p:cNvPr id="7" name="TextBox 6"/>
          <p:cNvSpPr txBox="1"/>
          <p:nvPr/>
        </p:nvSpPr>
        <p:spPr>
          <a:xfrm>
            <a:off x="4023360" y="777240"/>
            <a:ext cx="3200400" cy="201168"/>
          </a:xfrm>
          <a:prstGeom prst="rect">
            <a:avLst/>
          </a:prstGeom>
          <a:noFill/>
        </p:spPr>
        <p:txBody>
          <a:bodyPr wrap="square">
            <a:spAutoFit/>
          </a:bodyPr>
          <a:lstStyle/>
          <a:p>
            <a:pPr algn="l">
              <a:spcAft>
                <a:spcPts val="200"/>
              </a:spcAft>
              <a:defRPr sz="800" b="1">
                <a:solidFill>
                  <a:srgbClr val="0A1628"/>
                </a:solidFill>
                <a:latin typeface="Calibri"/>
              </a:defRPr>
            </a:pPr>
            <a:r>
              <a:t>COMMON OBJECTIONS &amp; RESPONSES</a:t>
            </a:r>
          </a:p>
        </p:txBody>
      </p:sp>
      <p:sp>
        <p:nvSpPr>
          <p:cNvPr id="8" name="TextBox 7"/>
          <p:cNvSpPr txBox="1"/>
          <p:nvPr/>
        </p:nvSpPr>
        <p:spPr>
          <a:xfrm>
            <a:off x="4023360" y="1005840"/>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“AI will replace our workforce”</a:t>
            </a:r>
          </a:p>
        </p:txBody>
      </p:sp>
      <p:sp>
        <p:nvSpPr>
          <p:cNvPr id="9" name="TextBox 8"/>
          <p:cNvSpPr txBox="1"/>
          <p:nvPr/>
        </p:nvSpPr>
        <p:spPr>
          <a:xfrm>
            <a:off x="4023360" y="1170432"/>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No. ServiceNow redeployed 85% of staff to higher-value roles. Agents augment, not replace.</a:t>
            </a:r>
          </a:p>
        </p:txBody>
      </p:sp>
      <p:sp>
        <p:nvSpPr>
          <p:cNvPr id="10" name="TextBox 9"/>
          <p:cNvSpPr txBox="1"/>
          <p:nvPr/>
        </p:nvSpPr>
        <p:spPr>
          <a:xfrm>
            <a:off x="4023360" y="1481328"/>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“It’s not accurate enough for production”</a:t>
            </a:r>
          </a:p>
        </p:txBody>
      </p:sp>
      <p:sp>
        <p:nvSpPr>
          <p:cNvPr id="11" name="TextBox 10"/>
          <p:cNvSpPr txBox="1"/>
          <p:nvPr/>
        </p:nvSpPr>
        <p:spPr>
          <a:xfrm>
            <a:off x="4023360" y="1645920"/>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94.2% decision agreement with human underwriters. Confidence thresholds gate autonomous actions.</a:t>
            </a:r>
          </a:p>
        </p:txBody>
      </p:sp>
      <p:sp>
        <p:nvSpPr>
          <p:cNvPr id="12" name="TextBox 11"/>
          <p:cNvSpPr txBox="1"/>
          <p:nvPr/>
        </p:nvSpPr>
        <p:spPr>
          <a:xfrm>
            <a:off x="4023360" y="1956816"/>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“We can’t explain AI decisions to regulators”</a:t>
            </a:r>
          </a:p>
        </p:txBody>
      </p:sp>
      <p:sp>
        <p:nvSpPr>
          <p:cNvPr id="13" name="TextBox 12"/>
          <p:cNvSpPr txBox="1"/>
          <p:nvPr/>
        </p:nvSpPr>
        <p:spPr>
          <a:xfrm>
            <a:off x="4023360" y="2121408"/>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POLARIS framework: typed planning, audit trails, policy guardrails. Regulator-cited as responsible AI.</a:t>
            </a:r>
          </a:p>
        </p:txBody>
      </p:sp>
      <p:sp>
        <p:nvSpPr>
          <p:cNvPr id="14" name="TextBox 13"/>
          <p:cNvSpPr txBox="1"/>
          <p:nvPr/>
        </p:nvSpPr>
        <p:spPr>
          <a:xfrm>
            <a:off x="4023360" y="2432304"/>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“Our data is too messy for agents”</a:t>
            </a:r>
          </a:p>
        </p:txBody>
      </p:sp>
      <p:sp>
        <p:nvSpPr>
          <p:cNvPr id="15" name="TextBox 14"/>
          <p:cNvSpPr txBox="1"/>
          <p:nvPr/>
        </p:nvSpPr>
        <p:spPr>
          <a:xfrm>
            <a:off x="4023360" y="2596896"/>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C.H. Robinson agents process 15K emails/day with handwritten PDFs and missing data.</a:t>
            </a:r>
          </a:p>
        </p:txBody>
      </p:sp>
      <p:sp>
        <p:nvSpPr>
          <p:cNvPr id="16" name="TextBox 15"/>
          <p:cNvSpPr txBox="1"/>
          <p:nvPr/>
        </p:nvSpPr>
        <p:spPr>
          <a:xfrm>
            <a:off x="4023360" y="2907792"/>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“ROI is uncertain”</a:t>
            </a:r>
          </a:p>
        </p:txBody>
      </p:sp>
      <p:sp>
        <p:nvSpPr>
          <p:cNvPr id="17" name="TextBox 16"/>
          <p:cNvSpPr txBox="1"/>
          <p:nvPr/>
        </p:nvSpPr>
        <p:spPr>
          <a:xfrm>
            <a:off x="4023360" y="3072384"/>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Document processing: 3-month payback. Clariva: 73% claims autonomous in 6 months. AIG: surpassed 2030 targets.</a:t>
            </a:r>
          </a:p>
        </p:txBody>
      </p:sp>
      <p:sp>
        <p:nvSpPr>
          <p:cNvPr id="18" name="TextBox 17"/>
          <p:cNvSpPr txBox="1"/>
          <p:nvPr/>
        </p:nvSpPr>
        <p:spPr>
          <a:xfrm>
            <a:off x="4023360" y="3383280"/>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“We tried AI before and it failed”</a:t>
            </a:r>
          </a:p>
        </p:txBody>
      </p:sp>
      <p:sp>
        <p:nvSpPr>
          <p:cNvPr id="19" name="TextBox 18"/>
          <p:cNvSpPr txBox="1"/>
          <p:nvPr/>
        </p:nvSpPr>
        <p:spPr>
          <a:xfrm>
            <a:off x="4023360" y="3547872"/>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80% of production agents use structured workflows, not open-ended autonomy. Scope defines success.</a:t>
            </a:r>
          </a:p>
        </p:txBody>
      </p:sp>
      <p:sp>
        <p:nvSpPr>
          <p:cNvPr id="20" name="Rectangle 19"/>
          <p:cNvSpPr/>
          <p:nvPr/>
        </p:nvSpPr>
        <p:spPr>
          <a:xfrm>
            <a:off x="274320" y="3977639"/>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4014215"/>
            <a:ext cx="2743200" cy="164592"/>
          </a:xfrm>
          <a:prstGeom prst="rect">
            <a:avLst/>
          </a:prstGeom>
          <a:noFill/>
        </p:spPr>
        <p:txBody>
          <a:bodyPr wrap="square">
            <a:spAutoFit/>
          </a:bodyPr>
          <a:lstStyle/>
          <a:p>
            <a:pPr algn="l">
              <a:spcAft>
                <a:spcPts val="200"/>
              </a:spcAft>
              <a:defRPr sz="750" b="1">
                <a:solidFill>
                  <a:srgbClr val="00C9A7"/>
                </a:solidFill>
                <a:latin typeface="Calibri"/>
              </a:defRPr>
            </a:pPr>
            <a:r>
              <a:t>COMPETITIVE LANDSCAPE</a:t>
            </a:r>
          </a:p>
        </p:txBody>
      </p:sp>
      <p:sp>
        <p:nvSpPr>
          <p:cNvPr id="22" name="TextBox 21"/>
          <p:cNvSpPr txBox="1"/>
          <p:nvPr/>
        </p:nvSpPr>
        <p:spPr>
          <a:xfrm>
            <a:off x="365760"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Pure RPA</a:t>
            </a:r>
          </a:p>
        </p:txBody>
      </p:sp>
      <p:sp>
        <p:nvSpPr>
          <p:cNvPr id="23" name="TextBox 22"/>
          <p:cNvSpPr txBox="1"/>
          <p:nvPr/>
        </p:nvSpPr>
        <p:spPr>
          <a:xfrm>
            <a:off x="365760"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reason;</a:t>
            </a:r>
            <a:br/>
            <a:r>
              <a:t>RPA follows scripts.</a:t>
            </a:r>
            <a:br/>
            <a:r>
              <a:t>Agents adapt to change.</a:t>
            </a:r>
          </a:p>
        </p:txBody>
      </p:sp>
      <p:sp>
        <p:nvSpPr>
          <p:cNvPr id="24" name="TextBox 23"/>
          <p:cNvSpPr txBox="1"/>
          <p:nvPr/>
        </p:nvSpPr>
        <p:spPr>
          <a:xfrm>
            <a:off x="224027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Chatbots</a:t>
            </a:r>
          </a:p>
        </p:txBody>
      </p:sp>
      <p:sp>
        <p:nvSpPr>
          <p:cNvPr id="25" name="TextBox 24"/>
          <p:cNvSpPr txBox="1"/>
          <p:nvPr/>
        </p:nvSpPr>
        <p:spPr>
          <a:xfrm>
            <a:off x="224027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act end-to-end;</a:t>
            </a:r>
            <a:br/>
            <a:r>
              <a:t>chatbots just answer.</a:t>
            </a:r>
            <a:br/>
            <a:r>
              <a:t>Agents use real tools.</a:t>
            </a:r>
          </a:p>
        </p:txBody>
      </p:sp>
      <p:sp>
        <p:nvSpPr>
          <p:cNvPr id="26" name="TextBox 25"/>
          <p:cNvSpPr txBox="1"/>
          <p:nvPr/>
        </p:nvSpPr>
        <p:spPr>
          <a:xfrm>
            <a:off x="411479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Custom ML</a:t>
            </a:r>
          </a:p>
        </p:txBody>
      </p:sp>
      <p:sp>
        <p:nvSpPr>
          <p:cNvPr id="27" name="TextBox 26"/>
          <p:cNvSpPr txBox="1"/>
          <p:nvPr/>
        </p:nvSpPr>
        <p:spPr>
          <a:xfrm>
            <a:off x="411479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compose tools;</a:t>
            </a:r>
            <a:br/>
            <a:r>
              <a:t>ML needs retraining.</a:t>
            </a:r>
            <a:br/>
            <a:r>
              <a:t>Agents deploy in weeks.</a:t>
            </a:r>
          </a:p>
        </p:txBody>
      </p:sp>
      <p:sp>
        <p:nvSpPr>
          <p:cNvPr id="28" name="TextBox 27"/>
          <p:cNvSpPr txBox="1"/>
          <p:nvPr/>
        </p:nvSpPr>
        <p:spPr>
          <a:xfrm>
            <a:off x="598931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BPO/Outsource</a:t>
            </a:r>
          </a:p>
        </p:txBody>
      </p:sp>
      <p:sp>
        <p:nvSpPr>
          <p:cNvPr id="29" name="TextBox 28"/>
          <p:cNvSpPr txBox="1"/>
          <p:nvPr/>
        </p:nvSpPr>
        <p:spPr>
          <a:xfrm>
            <a:off x="598931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scale instantly;</a:t>
            </a:r>
            <a:br/>
            <a:r>
              <a:t>BPO scales linearly.</a:t>
            </a:r>
            <a:br/>
            <a:r>
              <a:t>$28/resolution vs $320.</a:t>
            </a:r>
          </a:p>
        </p:txBody>
      </p:sp>
      <p:sp>
        <p:nvSpPr>
          <p:cNvPr id="30" name="Rectangle 29"/>
          <p:cNvSpPr/>
          <p:nvPr/>
        </p:nvSpPr>
        <p:spPr>
          <a:xfrm>
            <a:off x="274320" y="4937760"/>
            <a:ext cx="7619695" cy="7772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974336"/>
            <a:ext cx="2743200" cy="164592"/>
          </a:xfrm>
          <a:prstGeom prst="rect">
            <a:avLst/>
          </a:prstGeom>
          <a:noFill/>
        </p:spPr>
        <p:txBody>
          <a:bodyPr wrap="square">
            <a:spAutoFit/>
          </a:bodyPr>
          <a:lstStyle/>
          <a:p>
            <a:pPr algn="l">
              <a:spcAft>
                <a:spcPts val="200"/>
              </a:spcAft>
              <a:defRPr sz="750" b="1">
                <a:solidFill>
                  <a:srgbClr val="FFFFFF"/>
                </a:solidFill>
                <a:latin typeface="Calibri"/>
              </a:defRPr>
            </a:pPr>
            <a:r>
              <a:t>PRODUCTION DEPLOYMENT INSIGHTS</a:t>
            </a:r>
          </a:p>
        </p:txBody>
      </p:sp>
      <p:sp>
        <p:nvSpPr>
          <p:cNvPr id="32" name="TextBox 31"/>
          <p:cNvSpPr txBox="1"/>
          <p:nvPr/>
        </p:nvSpPr>
        <p:spPr>
          <a:xfrm>
            <a:off x="365760"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80%</a:t>
            </a:r>
          </a:p>
        </p:txBody>
      </p:sp>
      <p:sp>
        <p:nvSpPr>
          <p:cNvPr id="33" name="TextBox 32"/>
          <p:cNvSpPr txBox="1"/>
          <p:nvPr/>
        </p:nvSpPr>
        <p:spPr>
          <a:xfrm>
            <a:off x="365760"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Use structured</a:t>
            </a:r>
            <a:br/>
            <a:r>
              <a:t>workflows (not fully</a:t>
            </a:r>
            <a:br/>
            <a:r>
              <a:t>autonomous)</a:t>
            </a:r>
          </a:p>
        </p:txBody>
      </p:sp>
      <p:sp>
        <p:nvSpPr>
          <p:cNvPr id="34" name="TextBox 33"/>
          <p:cNvSpPr txBox="1"/>
          <p:nvPr/>
        </p:nvSpPr>
        <p:spPr>
          <a:xfrm>
            <a:off x="224027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85%</a:t>
            </a:r>
          </a:p>
        </p:txBody>
      </p:sp>
      <p:sp>
        <p:nvSpPr>
          <p:cNvPr id="35" name="TextBox 34"/>
          <p:cNvSpPr txBox="1"/>
          <p:nvPr/>
        </p:nvSpPr>
        <p:spPr>
          <a:xfrm>
            <a:off x="224027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Build custom over</a:t>
            </a:r>
            <a:br/>
            <a:r>
              <a:t>frameworks for</a:t>
            </a:r>
            <a:br/>
            <a:r>
              <a:t>production stability</a:t>
            </a:r>
          </a:p>
        </p:txBody>
      </p:sp>
      <p:sp>
        <p:nvSpPr>
          <p:cNvPr id="36" name="TextBox 35"/>
          <p:cNvSpPr txBox="1"/>
          <p:nvPr/>
        </p:nvSpPr>
        <p:spPr>
          <a:xfrm>
            <a:off x="411479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61%</a:t>
            </a:r>
          </a:p>
        </p:txBody>
      </p:sp>
      <p:sp>
        <p:nvSpPr>
          <p:cNvPr id="37" name="TextBox 36"/>
          <p:cNvSpPr txBox="1"/>
          <p:nvPr/>
        </p:nvSpPr>
        <p:spPr>
          <a:xfrm>
            <a:off x="411479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Use frameworks in</a:t>
            </a:r>
            <a:br/>
            <a:r>
              <a:t>pilot but migrate</a:t>
            </a:r>
            <a:br/>
            <a:r>
              <a:t>for production</a:t>
            </a:r>
          </a:p>
        </p:txBody>
      </p:sp>
      <p:sp>
        <p:nvSpPr>
          <p:cNvPr id="38" name="TextBox 37"/>
          <p:cNvSpPr txBox="1"/>
          <p:nvPr/>
        </p:nvSpPr>
        <p:spPr>
          <a:xfrm>
            <a:off x="598931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26</a:t>
            </a:r>
          </a:p>
        </p:txBody>
      </p:sp>
      <p:sp>
        <p:nvSpPr>
          <p:cNvPr id="39" name="TextBox 38"/>
          <p:cNvSpPr txBox="1"/>
          <p:nvPr/>
        </p:nvSpPr>
        <p:spPr>
          <a:xfrm>
            <a:off x="598931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Distinct domains</a:t>
            </a:r>
            <a:br/>
            <a:r>
              <a:t>with deployed</a:t>
            </a:r>
            <a:br/>
            <a:r>
              <a:t>agent systems</a:t>
            </a:r>
          </a:p>
        </p:txBody>
      </p:sp>
      <p:sp>
        <p:nvSpPr>
          <p:cNvPr id="40" name="TextBox 39"/>
          <p:cNvSpPr txBox="1"/>
          <p:nvPr/>
        </p:nvSpPr>
        <p:spPr>
          <a:xfrm>
            <a:off x="365760" y="5943600"/>
            <a:ext cx="6400800" cy="228600"/>
          </a:xfrm>
          <a:prstGeom prst="rect">
            <a:avLst/>
          </a:prstGeom>
          <a:noFill/>
        </p:spPr>
        <p:txBody>
          <a:bodyPr wrap="square">
            <a:spAutoFit/>
          </a:bodyPr>
          <a:lstStyle/>
          <a:p>
            <a:pPr algn="l">
              <a:spcAft>
                <a:spcPts val="200"/>
              </a:spcAft>
              <a:defRPr sz="600" b="0">
                <a:solidFill>
                  <a:srgbClr val="666666"/>
                </a:solidFill>
                <a:latin typeface="Calibri"/>
              </a:defRPr>
            </a:pPr>
            <a:r>
              <a:t>Source: arxiv.org/2512.04123 — Measuring Agents in Production (20 case studies, 306 practitioners, 86 deployed systems)</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41 / 46</a:t>
            </a:r>
          </a:p>
        </p:txBody>
      </p:sp>
      <p:sp>
        <p:nvSpPr>
          <p:cNvPr id="43" name="Rounded Rectangle 42"/>
          <p:cNvSpPr/>
          <p:nvPr/>
        </p:nvSpPr>
        <p:spPr>
          <a:xfrm>
            <a:off x="274320" y="6217920"/>
            <a:ext cx="228600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A1628"/>
                </a:solidFill>
              </a:rPr>
              <a:t>DOMAIN-AGENT GROUNDED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Sales Enablement Assets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822960"/>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77824"/>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Presentations &amp; Decks</a:t>
            </a:r>
          </a:p>
        </p:txBody>
      </p:sp>
      <p:sp>
        <p:nvSpPr>
          <p:cNvPr id="7" name="TextBox 6"/>
          <p:cNvSpPr txBox="1"/>
          <p:nvPr/>
        </p:nvSpPr>
        <p:spPr>
          <a:xfrm>
            <a:off x="457200" y="1097280"/>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This deck: 39-slide Agentic AI Use Cases Across Industries (cross-industry)</a:t>
            </a:r>
            <a:br/>
            <a:r>
              <a:t>• Industry-specific extracts: Insurance (5 UCs), Supply Chain (4 UCs), Healthcare (3 UCs)</a:t>
            </a:r>
            <a:br/>
            <a:r>
              <a:t>• Executive summary deck: 10 slides, C-suite focused, ROI-led narrative</a:t>
            </a:r>
            <a:br/>
            <a:r>
              <a:t>• Technical deep-dive deck: architecture patterns, governance frameworks, deployment guides</a:t>
            </a:r>
          </a:p>
        </p:txBody>
      </p:sp>
      <p:sp>
        <p:nvSpPr>
          <p:cNvPr id="8" name="Rectangle 7"/>
          <p:cNvSpPr/>
          <p:nvPr/>
        </p:nvSpPr>
        <p:spPr>
          <a:xfrm>
            <a:off x="274320" y="2084832"/>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3969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One-Pagers &amp; Brochures</a:t>
            </a:r>
          </a:p>
        </p:txBody>
      </p:sp>
      <p:sp>
        <p:nvSpPr>
          <p:cNvPr id="10" name="TextBox 9"/>
          <p:cNvSpPr txBox="1"/>
          <p:nvPr/>
        </p:nvSpPr>
        <p:spPr>
          <a:xfrm>
            <a:off x="457200" y="2359152"/>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Agentic AI capability overview: what it is, why now, what we do</a:t>
            </a:r>
            <a:br/>
            <a:r>
              <a:t>• Industry-specific solution briefs: pain point → solution → outcomes → case study</a:t>
            </a:r>
            <a:br/>
            <a:r>
              <a:t>• ROI calculator template: customizable by industry and process volume</a:t>
            </a:r>
            <a:br/>
            <a:r>
              <a:t>• Agent taxonomy visual: 6 agent types with example use cases</a:t>
            </a:r>
          </a:p>
        </p:txBody>
      </p:sp>
      <p:sp>
        <p:nvSpPr>
          <p:cNvPr id="11" name="Rectangle 10"/>
          <p:cNvSpPr/>
          <p:nvPr/>
        </p:nvSpPr>
        <p:spPr>
          <a:xfrm>
            <a:off x="274320" y="3346704"/>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401568"/>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Demos &amp; Proof Points</a:t>
            </a:r>
          </a:p>
        </p:txBody>
      </p:sp>
      <p:sp>
        <p:nvSpPr>
          <p:cNvPr id="13" name="TextBox 12"/>
          <p:cNvSpPr txBox="1"/>
          <p:nvPr/>
        </p:nvSpPr>
        <p:spPr>
          <a:xfrm>
            <a:off x="457200" y="3621024"/>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Live demo: claims pipeline agent (5-agent sequential processing)</a:t>
            </a:r>
            <a:br/>
            <a:r>
              <a:t>• Supply chain control tower demo: exception detection + auto-resolution</a:t>
            </a:r>
            <a:br/>
            <a:r>
              <a:t>• Code agent demo: ticket-to-code workflow with Gemini Code Assist</a:t>
            </a:r>
            <a:br/>
            <a:r>
              <a:t>• Reference architecture diagrams for each industry vertical</a:t>
            </a:r>
          </a:p>
        </p:txBody>
      </p:sp>
      <p:sp>
        <p:nvSpPr>
          <p:cNvPr id="14" name="Rectangle 13"/>
          <p:cNvSpPr/>
          <p:nvPr/>
        </p:nvSpPr>
        <p:spPr>
          <a:xfrm>
            <a:off x="274320" y="4608576"/>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4663440"/>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Customer-Facing Templates</a:t>
            </a:r>
          </a:p>
        </p:txBody>
      </p:sp>
      <p:sp>
        <p:nvSpPr>
          <p:cNvPr id="16" name="TextBox 15"/>
          <p:cNvSpPr txBox="1"/>
          <p:nvPr/>
        </p:nvSpPr>
        <p:spPr>
          <a:xfrm>
            <a:off x="457200" y="4882896"/>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Discovery workshop agenda template (half-day format)</a:t>
            </a:r>
            <a:br/>
            <a:r>
              <a:t>• Use case prioritization matrix (impact vs. feasibility)</a:t>
            </a:r>
            <a:br/>
            <a:r>
              <a:t>• Governance readiness checklist for regulated industries</a:t>
            </a:r>
            <a:br/>
            <a:r>
              <a:t>• Pilot proposal template: 12-week structured engagement</a:t>
            </a:r>
          </a:p>
        </p:txBody>
      </p:sp>
      <p:sp>
        <p:nvSpPr>
          <p:cNvPr id="17" name="TextBox 16"/>
          <p:cNvSpPr txBox="1"/>
          <p:nvPr/>
        </p:nvSpPr>
        <p:spPr>
          <a:xfrm>
            <a:off x="365760" y="5989320"/>
            <a:ext cx="6400800" cy="365760"/>
          </a:xfrm>
          <a:prstGeom prst="rect">
            <a:avLst/>
          </a:prstGeom>
          <a:noFill/>
        </p:spPr>
        <p:txBody>
          <a:bodyPr wrap="square">
            <a:spAutoFit/>
          </a:bodyPr>
          <a:lstStyle/>
          <a:p>
            <a:pPr algn="l">
              <a:spcAft>
                <a:spcPts val="200"/>
              </a:spcAft>
              <a:defRPr sz="700" b="1">
                <a:solidFill>
                  <a:srgbClr val="0A1628"/>
                </a:solidFill>
                <a:latin typeface="Calibri"/>
              </a:defRPr>
            </a:pPr>
            <a:r>
              <a:t>Action: Review asset inventory, identify gaps, assign owners for creation. Target: complete sales toolkit within 4 weeks of workshop.</a:t>
            </a:r>
          </a:p>
        </p:txBody>
      </p:sp>
      <p:pic>
        <p:nvPicPr>
          <p:cNvPr id="18" name="Picture 17" descr="image.jpg"/>
          <p:cNvPicPr>
            <a:picLocks noChangeAspect="1"/>
          </p:cNvPicPr>
          <p:nvPr/>
        </p:nvPicPr>
        <p:blipFill>
          <a:blip r:embed="rId2"/>
          <a:stretch>
            <a:fillRect/>
          </a:stretch>
        </p:blipFill>
        <p:spPr>
          <a:xfrm>
            <a:off x="8076895" y="0"/>
            <a:ext cx="4114800" cy="6858000"/>
          </a:xfrm>
          <a:prstGeom prst="rect">
            <a:avLst/>
          </a:prstGeom>
        </p:spPr>
      </p:pic>
      <p:sp>
        <p:nvSpPr>
          <p:cNvPr id="19" name="TextBox 1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20" name="TextBox 1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42 / 46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Collaboration Model — Sales × Practice × Pre-Sales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SALES TEAM</a:t>
            </a:r>
          </a:p>
        </p:txBody>
      </p:sp>
      <p:sp>
        <p:nvSpPr>
          <p:cNvPr id="7" name="TextBox 6"/>
          <p:cNvSpPr txBox="1"/>
          <p:nvPr/>
        </p:nvSpPr>
        <p:spPr>
          <a:xfrm>
            <a:off x="3657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Account ownership</a:t>
            </a:r>
            <a:br/>
            <a:r>
              <a:t>&amp; pipeline</a:t>
            </a:r>
          </a:p>
        </p:txBody>
      </p:sp>
      <p:sp>
        <p:nvSpPr>
          <p:cNvPr id="8" name="TextBox 7"/>
          <p:cNvSpPr txBox="1"/>
          <p:nvPr/>
        </p:nvSpPr>
        <p:spPr>
          <a:xfrm>
            <a:off x="4114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Own client relationship and pipeline</a:t>
            </a:r>
            <a:br/>
            <a:r>
              <a:t>• Identify pain points during discovery</a:t>
            </a:r>
            <a:br/>
            <a:r>
              <a:t>• Position agentic AI within account strategy</a:t>
            </a:r>
            <a:br/>
            <a:r>
              <a:t>• Lead commercial discussions and close</a:t>
            </a:r>
            <a:br/>
            <a:r>
              <a:t>• Track pipeline metrics and forecast</a:t>
            </a:r>
          </a:p>
        </p:txBody>
      </p:sp>
      <p:sp>
        <p:nvSpPr>
          <p:cNvPr id="9" name="Rectangle 8"/>
          <p:cNvSpPr/>
          <p:nvPr/>
        </p:nvSpPr>
        <p:spPr>
          <a:xfrm>
            <a:off x="27889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803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PRACTICE TEAM</a:t>
            </a:r>
          </a:p>
        </p:txBody>
      </p:sp>
      <p:sp>
        <p:nvSpPr>
          <p:cNvPr id="11" name="TextBox 10"/>
          <p:cNvSpPr txBox="1"/>
          <p:nvPr/>
        </p:nvSpPr>
        <p:spPr>
          <a:xfrm>
            <a:off x="28803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Domain expertise</a:t>
            </a:r>
            <a:br/>
            <a:r>
              <a:t>&amp; delivery</a:t>
            </a:r>
          </a:p>
        </p:txBody>
      </p:sp>
      <p:sp>
        <p:nvSpPr>
          <p:cNvPr id="12" name="TextBox 11"/>
          <p:cNvSpPr txBox="1"/>
          <p:nvPr/>
        </p:nvSpPr>
        <p:spPr>
          <a:xfrm>
            <a:off x="29260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Define solution architecture per industry</a:t>
            </a:r>
            <a:br/>
            <a:r>
              <a:t>• Validate technical feasibility and scope</a:t>
            </a:r>
            <a:br/>
            <a:r>
              <a:t>• Design pilot engagement (12-week format)</a:t>
            </a:r>
            <a:br/>
            <a:r>
              <a:t>• Lead implementation and delivery</a:t>
            </a:r>
            <a:br/>
            <a:r>
              <a:t>• Build reusable accelerators and IP</a:t>
            </a:r>
          </a:p>
        </p:txBody>
      </p:sp>
      <p:sp>
        <p:nvSpPr>
          <p:cNvPr id="13" name="Rectangle 12"/>
          <p:cNvSpPr/>
          <p:nvPr/>
        </p:nvSpPr>
        <p:spPr>
          <a:xfrm>
            <a:off x="53035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PRE-SALES TEAM</a:t>
            </a:r>
          </a:p>
        </p:txBody>
      </p:sp>
      <p:sp>
        <p:nvSpPr>
          <p:cNvPr id="15" name="TextBox 14"/>
          <p:cNvSpPr txBox="1"/>
          <p:nvPr/>
        </p:nvSpPr>
        <p:spPr>
          <a:xfrm>
            <a:off x="53949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Positioning &amp;</a:t>
            </a:r>
            <a:br/>
            <a:r>
              <a:t>technical sales</a:t>
            </a:r>
          </a:p>
        </p:txBody>
      </p:sp>
      <p:sp>
        <p:nvSpPr>
          <p:cNvPr id="16" name="TextBox 15"/>
          <p:cNvSpPr txBox="1"/>
          <p:nvPr/>
        </p:nvSpPr>
        <p:spPr>
          <a:xfrm>
            <a:off x="54406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Translate pain points to agentic solutions</a:t>
            </a:r>
            <a:br/>
            <a:r>
              <a:t>• Customize decks and demos per account</a:t>
            </a:r>
            <a:br/>
            <a:r>
              <a:t>• Run discovery workshops with clients</a:t>
            </a:r>
            <a:br/>
            <a:r>
              <a:t>• Build ROI models and business cases</a:t>
            </a:r>
            <a:br/>
            <a:r>
              <a:t>• Create proof-of-concept proposals</a:t>
            </a:r>
          </a:p>
        </p:txBody>
      </p:sp>
      <p:sp>
        <p:nvSpPr>
          <p:cNvPr id="17" name="TextBox 16"/>
          <p:cNvSpPr txBox="1"/>
          <p:nvPr/>
        </p:nvSpPr>
        <p:spPr>
          <a:xfrm>
            <a:off x="365760" y="411480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ENGAGEMENT LIFECYCLE</a:t>
            </a:r>
          </a:p>
        </p:txBody>
      </p:sp>
      <p:sp>
        <p:nvSpPr>
          <p:cNvPr id="18" name="Rectangle 17"/>
          <p:cNvSpPr/>
          <p:nvPr/>
        </p:nvSpPr>
        <p:spPr>
          <a:xfrm>
            <a:off x="27432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1. Qualify</a:t>
            </a:r>
          </a:p>
        </p:txBody>
      </p:sp>
      <p:sp>
        <p:nvSpPr>
          <p:cNvPr id="20" name="TextBox 19"/>
          <p:cNvSpPr txBox="1"/>
          <p:nvPr/>
        </p:nvSpPr>
        <p:spPr>
          <a:xfrm>
            <a:off x="36576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Sales identifies</a:t>
            </a:r>
            <a:br/>
            <a:r>
              <a:t>pain + budget.</a:t>
            </a:r>
            <a:br/>
            <a:r>
              <a:t>Pre-sales validates</a:t>
            </a:r>
            <a:br/>
            <a:r>
              <a:t>agentic AI fit.</a:t>
            </a:r>
          </a:p>
        </p:txBody>
      </p:sp>
      <p:sp>
        <p:nvSpPr>
          <p:cNvPr id="21" name="Rectangle 20"/>
          <p:cNvSpPr/>
          <p:nvPr/>
        </p:nvSpPr>
        <p:spPr>
          <a:xfrm>
            <a:off x="219456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8600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2. Discover</a:t>
            </a:r>
          </a:p>
        </p:txBody>
      </p:sp>
      <p:sp>
        <p:nvSpPr>
          <p:cNvPr id="23" name="TextBox 22"/>
          <p:cNvSpPr txBox="1"/>
          <p:nvPr/>
        </p:nvSpPr>
        <p:spPr>
          <a:xfrm>
            <a:off x="228600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Pre-sales runs</a:t>
            </a:r>
            <a:br/>
            <a:r>
              <a:t>workshop. Practice</a:t>
            </a:r>
            <a:br/>
            <a:r>
              <a:t>assesses feasibility.</a:t>
            </a:r>
            <a:br/>
            <a:r>
              <a:t>Pain point mapping.</a:t>
            </a:r>
          </a:p>
        </p:txBody>
      </p:sp>
      <p:sp>
        <p:nvSpPr>
          <p:cNvPr id="24" name="Rectangle 23"/>
          <p:cNvSpPr/>
          <p:nvPr/>
        </p:nvSpPr>
        <p:spPr>
          <a:xfrm>
            <a:off x="411480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0624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3. Propose</a:t>
            </a:r>
          </a:p>
        </p:txBody>
      </p:sp>
      <p:sp>
        <p:nvSpPr>
          <p:cNvPr id="26" name="TextBox 25"/>
          <p:cNvSpPr txBox="1"/>
          <p:nvPr/>
        </p:nvSpPr>
        <p:spPr>
          <a:xfrm>
            <a:off x="420624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Pre-sales builds</a:t>
            </a:r>
            <a:br/>
            <a:r>
              <a:t>business case.</a:t>
            </a:r>
            <a:br/>
            <a:r>
              <a:t>Practice designs</a:t>
            </a:r>
            <a:br/>
            <a:r>
              <a:t>12-week pilot.</a:t>
            </a:r>
          </a:p>
        </p:txBody>
      </p:sp>
      <p:sp>
        <p:nvSpPr>
          <p:cNvPr id="27" name="Rectangle 26"/>
          <p:cNvSpPr/>
          <p:nvPr/>
        </p:nvSpPr>
        <p:spPr>
          <a:xfrm>
            <a:off x="603504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4. Deliver</a:t>
            </a:r>
          </a:p>
        </p:txBody>
      </p:sp>
      <p:sp>
        <p:nvSpPr>
          <p:cNvPr id="29" name="TextBox 28"/>
          <p:cNvSpPr txBox="1"/>
          <p:nvPr/>
        </p:nvSpPr>
        <p:spPr>
          <a:xfrm>
            <a:off x="612648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Practice leads</a:t>
            </a:r>
            <a:br/>
            <a:r>
              <a:t>implementation.</a:t>
            </a:r>
            <a:br/>
            <a:r>
              <a:t>Pre-sales supports</a:t>
            </a:r>
            <a:br/>
            <a:r>
              <a:t>stakeholder comms.</a:t>
            </a:r>
          </a:p>
        </p:txBody>
      </p:sp>
      <p:sp>
        <p:nvSpPr>
          <p:cNvPr id="30" name="TextBox 29"/>
          <p:cNvSpPr txBox="1"/>
          <p:nvPr/>
        </p:nvSpPr>
        <p:spPr>
          <a:xfrm>
            <a:off x="365760" y="5943600"/>
            <a:ext cx="6400800" cy="365760"/>
          </a:xfrm>
          <a:prstGeom prst="rect">
            <a:avLst/>
          </a:prstGeom>
          <a:noFill/>
        </p:spPr>
        <p:txBody>
          <a:bodyPr wrap="square">
            <a:spAutoFit/>
          </a:bodyPr>
          <a:lstStyle/>
          <a:p>
            <a:pPr algn="l">
              <a:spcAft>
                <a:spcPts val="200"/>
              </a:spcAft>
              <a:defRPr sz="700" b="1">
                <a:solidFill>
                  <a:srgbClr val="0A1628"/>
                </a:solidFill>
                <a:latin typeface="Calibri"/>
              </a:defRPr>
            </a:pPr>
            <a:r>
              <a:t>Key principle: Sales and Practice align on opportunity BEFORE client engagement. No solo pursuits — every opportunity gets the full team.</a:t>
            </a:r>
          </a:p>
        </p:txBody>
      </p:sp>
      <p:pic>
        <p:nvPicPr>
          <p:cNvPr id="31" name="Picture 30" descr="image.jpg"/>
          <p:cNvPicPr>
            <a:picLocks noChangeAspect="1"/>
          </p:cNvPicPr>
          <p:nvPr/>
        </p:nvPicPr>
        <p:blipFill>
          <a:blip r:embed="rId2"/>
          <a:stretch>
            <a:fillRect/>
          </a:stretch>
        </p:blipFill>
        <p:spPr>
          <a:xfrm>
            <a:off x="8076895" y="0"/>
            <a:ext cx="4114800" cy="6858000"/>
          </a:xfrm>
          <a:prstGeom prst="rect">
            <a:avLst/>
          </a:prstGeom>
        </p:spPr>
      </p:pic>
      <p:sp>
        <p:nvSpPr>
          <p:cNvPr id="32" name="TextBox 3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33" name="TextBox 3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43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Pipeline &amp; Strategic Opportunities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HIGHEST-ROI TARGET VERTICALS FOR AGENTIC AI</a:t>
            </a:r>
          </a:p>
        </p:txBody>
      </p:sp>
      <p:sp>
        <p:nvSpPr>
          <p:cNvPr id="6" name="Rectangle 5"/>
          <p:cNvSpPr/>
          <p:nvPr/>
        </p:nvSpPr>
        <p:spPr>
          <a:xfrm>
            <a:off x="274320" y="105156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0642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Insurance &amp; Claims</a:t>
            </a:r>
          </a:p>
        </p:txBody>
      </p:sp>
      <p:sp>
        <p:nvSpPr>
          <p:cNvPr id="8" name="TextBox 7"/>
          <p:cNvSpPr txBox="1"/>
          <p:nvPr/>
        </p:nvSpPr>
        <p:spPr>
          <a:xfrm>
            <a:off x="2468880" y="110642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Fastest payback. Claims, underwriting, fraud detection. Document-intensive, rule-governed, high-volume. 3-month ROI median.</a:t>
            </a:r>
          </a:p>
        </p:txBody>
      </p:sp>
      <p:sp>
        <p:nvSpPr>
          <p:cNvPr id="9" name="TextBox 8"/>
          <p:cNvSpPr txBox="1"/>
          <p:nvPr/>
        </p:nvSpPr>
        <p:spPr>
          <a:xfrm>
            <a:off x="2468880" y="146304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Allianz, AIG, Clariva — production at scale</a:t>
            </a:r>
          </a:p>
        </p:txBody>
      </p:sp>
      <p:sp>
        <p:nvSpPr>
          <p:cNvPr id="10" name="Rectangle 9"/>
          <p:cNvSpPr/>
          <p:nvPr/>
        </p:nvSpPr>
        <p:spPr>
          <a:xfrm>
            <a:off x="274320" y="1828800"/>
            <a:ext cx="7619695" cy="73152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88366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Financial Services</a:t>
            </a:r>
          </a:p>
        </p:txBody>
      </p:sp>
      <p:sp>
        <p:nvSpPr>
          <p:cNvPr id="12" name="TextBox 11"/>
          <p:cNvSpPr txBox="1"/>
          <p:nvPr/>
        </p:nvSpPr>
        <p:spPr>
          <a:xfrm>
            <a:off x="2468880" y="188366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Compliance-critical workflows. Wire transfers, equity research, customer onboarding, AML/KYC. Regulated but high-margin.</a:t>
            </a:r>
          </a:p>
        </p:txBody>
      </p:sp>
      <p:sp>
        <p:nvSpPr>
          <p:cNvPr id="13" name="TextBox 12"/>
          <p:cNvSpPr txBox="1"/>
          <p:nvPr/>
        </p:nvSpPr>
        <p:spPr>
          <a:xfrm>
            <a:off x="2468880" y="224028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Wells Fargo, Schroders, FinRobot — enterprise adoption</a:t>
            </a:r>
          </a:p>
        </p:txBody>
      </p:sp>
      <p:sp>
        <p:nvSpPr>
          <p:cNvPr id="14" name="Rectangle 13"/>
          <p:cNvSpPr/>
          <p:nvPr/>
        </p:nvSpPr>
        <p:spPr>
          <a:xfrm>
            <a:off x="274320" y="260604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66090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Supply Chain &amp; Logistics</a:t>
            </a:r>
          </a:p>
        </p:txBody>
      </p:sp>
      <p:sp>
        <p:nvSpPr>
          <p:cNvPr id="16" name="TextBox 15"/>
          <p:cNvSpPr txBox="1"/>
          <p:nvPr/>
        </p:nvSpPr>
        <p:spPr>
          <a:xfrm>
            <a:off x="2468880" y="266090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Exception handling + control towers. High transaction volume, multi-system integration, real-time requirements.</a:t>
            </a:r>
          </a:p>
        </p:txBody>
      </p:sp>
      <p:sp>
        <p:nvSpPr>
          <p:cNvPr id="17" name="TextBox 16"/>
          <p:cNvSpPr txBox="1"/>
          <p:nvPr/>
        </p:nvSpPr>
        <p:spPr>
          <a:xfrm>
            <a:off x="2468880" y="301752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Singapore 3PL, C.H. Robinson, UNACEM — measurable savings</a:t>
            </a:r>
          </a:p>
        </p:txBody>
      </p:sp>
      <p:sp>
        <p:nvSpPr>
          <p:cNvPr id="18" name="Rectangle 17"/>
          <p:cNvSpPr/>
          <p:nvPr/>
        </p:nvSpPr>
        <p:spPr>
          <a:xfrm>
            <a:off x="274320" y="3383280"/>
            <a:ext cx="7619695" cy="73152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43814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Manufacturing</a:t>
            </a:r>
          </a:p>
        </p:txBody>
      </p:sp>
      <p:sp>
        <p:nvSpPr>
          <p:cNvPr id="20" name="TextBox 19"/>
          <p:cNvSpPr txBox="1"/>
          <p:nvPr/>
        </p:nvSpPr>
        <p:spPr>
          <a:xfrm>
            <a:off x="2468880" y="343814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IoT-connected agents for RCA, quality, digital twins. Industry 4.0/5.0 alignment. Long sales cycles but high contract values.</a:t>
            </a:r>
          </a:p>
        </p:txBody>
      </p:sp>
      <p:sp>
        <p:nvSpPr>
          <p:cNvPr id="21" name="TextBox 20"/>
          <p:cNvSpPr txBox="1"/>
          <p:nvPr/>
        </p:nvSpPr>
        <p:spPr>
          <a:xfrm>
            <a:off x="2468880" y="379476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Apollo Tyres, HCLTech, BMW — scaling from pilot</a:t>
            </a:r>
          </a:p>
        </p:txBody>
      </p:sp>
      <p:sp>
        <p:nvSpPr>
          <p:cNvPr id="22" name="Rectangle 21"/>
          <p:cNvSpPr/>
          <p:nvPr/>
        </p:nvSpPr>
        <p:spPr>
          <a:xfrm>
            <a:off x="274320" y="416052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21538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Healthcare</a:t>
            </a:r>
          </a:p>
        </p:txBody>
      </p:sp>
      <p:sp>
        <p:nvSpPr>
          <p:cNvPr id="24" name="TextBox 23"/>
          <p:cNvSpPr txBox="1"/>
          <p:nvPr/>
        </p:nvSpPr>
        <p:spPr>
          <a:xfrm>
            <a:off x="2468880" y="421538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Clinical reasoning, drug discovery, document processing. Heavy regulation but transformative potential. Longer sales cycles.</a:t>
            </a:r>
          </a:p>
        </p:txBody>
      </p:sp>
      <p:sp>
        <p:nvSpPr>
          <p:cNvPr id="25" name="TextBox 24"/>
          <p:cNvSpPr txBox="1"/>
          <p:nvPr/>
        </p:nvSpPr>
        <p:spPr>
          <a:xfrm>
            <a:off x="2468880" y="457200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TXAGENT, Tippy, cognitive detection — research to production</a:t>
            </a:r>
          </a:p>
        </p:txBody>
      </p:sp>
      <p:sp>
        <p:nvSpPr>
          <p:cNvPr id="26" name="TextBox 25"/>
          <p:cNvSpPr txBox="1"/>
          <p:nvPr/>
        </p:nvSpPr>
        <p:spPr>
          <a:xfrm>
            <a:off x="365760" y="502920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STRATEGIC PIPELINE PLAYS</a:t>
            </a:r>
          </a:p>
        </p:txBody>
      </p:sp>
      <p:sp>
        <p:nvSpPr>
          <p:cNvPr id="27" name="Rectangle 26"/>
          <p:cNvSpPr/>
          <p:nvPr/>
        </p:nvSpPr>
        <p:spPr>
          <a:xfrm>
            <a:off x="27432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Land with Claims</a:t>
            </a:r>
          </a:p>
        </p:txBody>
      </p:sp>
      <p:sp>
        <p:nvSpPr>
          <p:cNvPr id="29" name="TextBox 28"/>
          <p:cNvSpPr txBox="1"/>
          <p:nvPr/>
        </p:nvSpPr>
        <p:spPr>
          <a:xfrm>
            <a:off x="36576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Start with document</a:t>
            </a:r>
            <a:br/>
            <a:r>
              <a:t>processing or claims.</a:t>
            </a:r>
            <a:br/>
            <a:r>
              <a:t>3-month ROI proof.</a:t>
            </a:r>
            <a:br/>
            <a:r>
              <a:t>Expand to adjacent.</a:t>
            </a:r>
          </a:p>
        </p:txBody>
      </p:sp>
      <p:sp>
        <p:nvSpPr>
          <p:cNvPr id="30" name="Rectangle 29"/>
          <p:cNvSpPr/>
          <p:nvPr/>
        </p:nvSpPr>
        <p:spPr>
          <a:xfrm>
            <a:off x="219456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Control Tower Entry</a:t>
            </a:r>
          </a:p>
        </p:txBody>
      </p:sp>
      <p:sp>
        <p:nvSpPr>
          <p:cNvPr id="32" name="TextBox 31"/>
          <p:cNvSpPr txBox="1"/>
          <p:nvPr/>
        </p:nvSpPr>
        <p:spPr>
          <a:xfrm>
            <a:off x="228600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Supply chain exception</a:t>
            </a:r>
            <a:br/>
            <a:r>
              <a:t>handling as wedge.</a:t>
            </a:r>
            <a:br/>
            <a:r>
              <a:t>73% auto-resolution.</a:t>
            </a:r>
            <a:br/>
            <a:r>
              <a:t>Expand to full ops.</a:t>
            </a:r>
          </a:p>
        </p:txBody>
      </p:sp>
      <p:sp>
        <p:nvSpPr>
          <p:cNvPr id="33" name="Rectangle 32"/>
          <p:cNvSpPr/>
          <p:nvPr/>
        </p:nvSpPr>
        <p:spPr>
          <a:xfrm>
            <a:off x="411480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0624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Developer Platform</a:t>
            </a:r>
          </a:p>
        </p:txBody>
      </p:sp>
      <p:sp>
        <p:nvSpPr>
          <p:cNvPr id="35" name="TextBox 34"/>
          <p:cNvSpPr txBox="1"/>
          <p:nvPr/>
        </p:nvSpPr>
        <p:spPr>
          <a:xfrm>
            <a:off x="420624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Code agents for dev</a:t>
            </a:r>
            <a:br/>
            <a:r>
              <a:t>teams. Low risk pilot.</a:t>
            </a:r>
            <a:br/>
            <a:r>
              <a:t>30-50% gains. Expand</a:t>
            </a:r>
            <a:br/>
            <a:r>
              <a:t>to enterprise agents.</a:t>
            </a:r>
          </a:p>
        </p:txBody>
      </p:sp>
      <p:sp>
        <p:nvSpPr>
          <p:cNvPr id="36" name="Rectangle 35"/>
          <p:cNvSpPr/>
          <p:nvPr/>
        </p:nvSpPr>
        <p:spPr>
          <a:xfrm>
            <a:off x="603504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Workshop-Led</a:t>
            </a:r>
          </a:p>
        </p:txBody>
      </p:sp>
      <p:sp>
        <p:nvSpPr>
          <p:cNvPr id="38" name="TextBox 37"/>
          <p:cNvSpPr txBox="1"/>
          <p:nvPr/>
        </p:nvSpPr>
        <p:spPr>
          <a:xfrm>
            <a:off x="612648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Discovery workshop</a:t>
            </a:r>
            <a:br/>
            <a:r>
              <a:t>(half-day). Map pain</a:t>
            </a:r>
            <a:br/>
            <a:r>
              <a:t>points live. Convert</a:t>
            </a:r>
            <a:br/>
            <a:r>
              <a:t>to 12-week pilot.</a:t>
            </a:r>
          </a:p>
        </p:txBody>
      </p:sp>
      <p:pic>
        <p:nvPicPr>
          <p:cNvPr id="39" name="Picture 38" descr="image.jpg"/>
          <p:cNvPicPr>
            <a:picLocks noChangeAspect="1"/>
          </p:cNvPicPr>
          <p:nvPr/>
        </p:nvPicPr>
        <p:blipFill>
          <a:blip r:embed="rId2"/>
          <a:stretch>
            <a:fillRect/>
          </a:stretch>
        </p:blipFill>
        <p:spPr>
          <a:xfrm>
            <a:off x="8076895" y="0"/>
            <a:ext cx="4114800" cy="6858000"/>
          </a:xfrm>
          <a:prstGeom prst="rect">
            <a:avLst/>
          </a:prstGeom>
        </p:spPr>
      </p:pic>
      <p:sp>
        <p:nvSpPr>
          <p:cNvPr id="40" name="TextBox 39"/>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41" name="TextBox 40"/>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44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Key Takeaways — Agentic AI in Production</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BUSINESS IMPACT</a:t>
            </a:r>
          </a:p>
        </p:txBody>
      </p:sp>
      <p:sp>
        <p:nvSpPr>
          <p:cNvPr id="6" name="TextBox 5"/>
          <p:cNvSpPr txBox="1"/>
          <p:nvPr/>
        </p:nvSpPr>
        <p:spPr>
          <a:xfrm>
            <a:off x="365760" y="978408"/>
            <a:ext cx="3520440" cy="4114800"/>
          </a:xfrm>
          <a:prstGeom prst="rect">
            <a:avLst/>
          </a:prstGeom>
          <a:noFill/>
        </p:spPr>
        <p:txBody>
          <a:bodyPr wrap="square">
            <a:spAutoFit/>
          </a:bodyPr>
          <a:lstStyle/>
          <a:p>
            <a:pPr algn="l">
              <a:spcAft>
                <a:spcPts val="200"/>
              </a:spcAft>
              <a:defRPr sz="750" b="0">
                <a:solidFill>
                  <a:srgbClr val="0A1628"/>
                </a:solidFill>
                <a:latin typeface="Calibri"/>
              </a:defRPr>
            </a:pPr>
            <a:r>
              <a:t>• Agentic AI is production-ready: 60% of enterprises now have at least one agent in production</a:t>
            </a:r>
            <a:br/>
            <a:r>
              <a:t>• Insurance leads adoption: Claims processing from 29 days to 3.5 days (Allianz), 370K submissions processed autonomously (AIG)</a:t>
            </a:r>
            <a:br/>
            <a:r>
              <a:t>• Supply chain transformed: 73% exception auto-resolution, 99.2% on-time delivery</a:t>
            </a:r>
            <a:br/>
            <a:r>
              <a:t>• Manufacturing breakthrough: 88% reduction in root cause analysis effort (Apollo Tyres)</a:t>
            </a:r>
            <a:br/>
            <a:r>
              <a:t>• Healthcare potential: 5-agent systems approaching expert-level clinical performance</a:t>
            </a:r>
            <a:br/>
            <a:r>
              <a:t>• Enterprise scale proven: ServiceNow 90% IT tickets autonomous, Cognizant 350K users</a:t>
            </a:r>
            <a:br/>
            <a:r>
              <a:t>• ROI is measurable: 3-6 month payback on document-intensive back-office processes</a:t>
            </a:r>
          </a:p>
        </p:txBody>
      </p:sp>
      <p:sp>
        <p:nvSpPr>
          <p:cNvPr id="7" name="TextBox 6"/>
          <p:cNvSpPr txBox="1"/>
          <p:nvPr/>
        </p:nvSpPr>
        <p:spPr>
          <a:xfrm>
            <a:off x="40233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IMPLEMENTATION INSIGHTS</a:t>
            </a:r>
          </a:p>
        </p:txBody>
      </p:sp>
      <p:sp>
        <p:nvSpPr>
          <p:cNvPr id="8" name="TextBox 7"/>
          <p:cNvSpPr txBox="1"/>
          <p:nvPr/>
        </p:nvSpPr>
        <p:spPr>
          <a:xfrm>
            <a:off x="4023360" y="978408"/>
            <a:ext cx="3520440" cy="4114800"/>
          </a:xfrm>
          <a:prstGeom prst="rect">
            <a:avLst/>
          </a:prstGeom>
          <a:noFill/>
        </p:spPr>
        <p:txBody>
          <a:bodyPr wrap="square">
            <a:spAutoFit/>
          </a:bodyPr>
          <a:lstStyle/>
          <a:p>
            <a:pPr algn="l">
              <a:spcAft>
                <a:spcPts val="200"/>
              </a:spcAft>
              <a:defRPr sz="750" b="0">
                <a:solidFill>
                  <a:srgbClr val="0A1628"/>
                </a:solidFill>
                <a:latin typeface="Calibri"/>
              </a:defRPr>
            </a:pPr>
            <a:r>
              <a:t>• Structured workflows dominate: 80% of production agents use predefined task sequences, not fully autonomous planning</a:t>
            </a:r>
            <a:br/>
            <a:r>
              <a:t>• Human-in-the-loop is essential: agents escalate complex decisions, not replace judgment</a:t>
            </a:r>
            <a:br/>
            <a:r>
              <a:t>• Governance is the differentiator: audit trails, policy guardrails, and token cost management separate production from prototype</a:t>
            </a:r>
            <a:br/>
            <a:r>
              <a:t>• Multi-agent &gt; single agent: orchestrated specialist agents outperform monolithic systems</a:t>
            </a:r>
            <a:br/>
            <a:r>
              <a:t>• Custom &gt; frameworks: 85% of production systems build custom implementations over LangChain/CrewAI</a:t>
            </a:r>
            <a:br/>
            <a:r>
              <a:t>• Start with high-volume, rule-governed processes: document processing, claims, logistics exceptions</a:t>
            </a:r>
            <a:br/>
            <a:r>
              <a:t>• Fastest ROI: document-intensive back-office (3 months), SDLC automation (4-5 months), tier-1 deflection (5-6 months)</a:t>
            </a:r>
          </a:p>
        </p:txBody>
      </p:sp>
      <p:sp>
        <p:nvSpPr>
          <p:cNvPr id="9" name="Rectangle 8"/>
          <p:cNvSpPr/>
          <p:nvPr/>
        </p:nvSpPr>
        <p:spPr>
          <a:xfrm>
            <a:off x="365760"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26</a:t>
            </a:r>
          </a:p>
        </p:txBody>
      </p:sp>
      <p:sp>
        <p:nvSpPr>
          <p:cNvPr id="11" name="TextBox 10"/>
          <p:cNvSpPr txBox="1"/>
          <p:nvPr/>
        </p:nvSpPr>
        <p:spPr>
          <a:xfrm>
            <a:off x="365760"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 Cases</a:t>
            </a:r>
            <a:br/>
            <a:r>
              <a:t>Documented</a:t>
            </a:r>
          </a:p>
        </p:txBody>
      </p:sp>
      <p:sp>
        <p:nvSpPr>
          <p:cNvPr id="12" name="Rectangle 11"/>
          <p:cNvSpPr/>
          <p:nvPr/>
        </p:nvSpPr>
        <p:spPr>
          <a:xfrm>
            <a:off x="224027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a:t>
            </a:r>
          </a:p>
        </p:txBody>
      </p:sp>
      <p:sp>
        <p:nvSpPr>
          <p:cNvPr id="14" name="TextBox 13"/>
          <p:cNvSpPr txBox="1"/>
          <p:nvPr/>
        </p:nvSpPr>
        <p:spPr>
          <a:xfrm>
            <a:off x="224027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Industries</a:t>
            </a:r>
            <a:br/>
            <a:r>
              <a:t>Covered</a:t>
            </a:r>
          </a:p>
        </p:txBody>
      </p:sp>
      <p:sp>
        <p:nvSpPr>
          <p:cNvPr id="15" name="Rectangle 14"/>
          <p:cNvSpPr/>
          <p:nvPr/>
        </p:nvSpPr>
        <p:spPr>
          <a:xfrm>
            <a:off x="411479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17" name="TextBox 16"/>
          <p:cNvSpPr txBox="1"/>
          <p:nvPr/>
        </p:nvSpPr>
        <p:spPr>
          <a:xfrm>
            <a:off x="411479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by 2030</a:t>
            </a:r>
            <a:br/>
            <a:r>
              <a:t>(Gartner)</a:t>
            </a:r>
          </a:p>
        </p:txBody>
      </p:sp>
      <p:sp>
        <p:nvSpPr>
          <p:cNvPr id="18" name="Rectangle 17"/>
          <p:cNvSpPr/>
          <p:nvPr/>
        </p:nvSpPr>
        <p:spPr>
          <a:xfrm>
            <a:off x="598931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3-6 mo</a:t>
            </a:r>
          </a:p>
        </p:txBody>
      </p:sp>
      <p:sp>
        <p:nvSpPr>
          <p:cNvPr id="20" name="TextBox 19"/>
          <p:cNvSpPr txBox="1"/>
          <p:nvPr/>
        </p:nvSpPr>
        <p:spPr>
          <a:xfrm>
            <a:off x="598931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Median ROI</a:t>
            </a:r>
            <a:br/>
            <a:r>
              <a:t>Payback</a:t>
            </a:r>
          </a:p>
        </p:txBody>
      </p:sp>
      <p:pic>
        <p:nvPicPr>
          <p:cNvPr id="21" name="Picture 20" descr="image.jpg"/>
          <p:cNvPicPr>
            <a:picLocks noChangeAspect="1"/>
          </p:cNvPicPr>
          <p:nvPr/>
        </p:nvPicPr>
        <p:blipFill>
          <a:blip r:embed="rId2"/>
          <a:stretch>
            <a:fillRect/>
          </a:stretch>
        </p:blipFill>
        <p:spPr>
          <a:xfrm>
            <a:off x="8076895" y="0"/>
            <a:ext cx="4114800" cy="6858000"/>
          </a:xfrm>
          <a:prstGeom prst="rect">
            <a:avLst/>
          </a:prstGeom>
        </p:spPr>
      </p:pic>
      <p:sp>
        <p:nvSpPr>
          <p:cNvPr id="22" name="TextBox 2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23" name="TextBox 2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45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Implementation Roadmap — From Pilot to Production</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77724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81381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1: Discovery (Weeks 1-4)</a:t>
            </a:r>
          </a:p>
        </p:txBody>
      </p:sp>
      <p:sp>
        <p:nvSpPr>
          <p:cNvPr id="7" name="TextBox 6"/>
          <p:cNvSpPr txBox="1"/>
          <p:nvPr/>
        </p:nvSpPr>
        <p:spPr>
          <a:xfrm>
            <a:off x="457200" y="106984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Identify high-volume, rule-governed processes as candidates</a:t>
            </a:r>
            <a:br/>
            <a:r>
              <a:t>• Map existing workflows and decision points</a:t>
            </a:r>
            <a:br/>
            <a:r>
              <a:t>• Define agent scope, guardrails, and human escalation triggers</a:t>
            </a:r>
            <a:br/>
            <a:r>
              <a:t>• Inventory data sources, APIs, and system integrations</a:t>
            </a:r>
            <a:br/>
            <a:r>
              <a:t>• Establish success metrics and baseline measurements</a:t>
            </a:r>
          </a:p>
        </p:txBody>
      </p:sp>
      <p:sp>
        <p:nvSpPr>
          <p:cNvPr id="8" name="Rectangle 7"/>
          <p:cNvSpPr/>
          <p:nvPr/>
        </p:nvSpPr>
        <p:spPr>
          <a:xfrm>
            <a:off x="365760" y="219456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3113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2: Build (Weeks 5-12)</a:t>
            </a:r>
          </a:p>
        </p:txBody>
      </p:sp>
      <p:sp>
        <p:nvSpPr>
          <p:cNvPr id="10" name="TextBox 9"/>
          <p:cNvSpPr txBox="1"/>
          <p:nvPr/>
        </p:nvSpPr>
        <p:spPr>
          <a:xfrm>
            <a:off x="457200" y="248716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Design multi-agent architecture with specialist agents</a:t>
            </a:r>
            <a:br/>
            <a:r>
              <a:t>• Build tool integrations (ERP, CRM, TMS, WMS, HRIS)</a:t>
            </a:r>
            <a:br/>
            <a:r>
              <a:t>• Implement governance layer: audit trails, policy guardrails</a:t>
            </a:r>
            <a:br/>
            <a:r>
              <a:t>• Deploy human-in-the-loop gates at critical decision points</a:t>
            </a:r>
            <a:br/>
            <a:r>
              <a:t>• Shadow mode: run agents in parallel with human workers</a:t>
            </a:r>
          </a:p>
        </p:txBody>
      </p:sp>
      <p:sp>
        <p:nvSpPr>
          <p:cNvPr id="11" name="Rectangle 10"/>
          <p:cNvSpPr/>
          <p:nvPr/>
        </p:nvSpPr>
        <p:spPr>
          <a:xfrm>
            <a:off x="365760" y="361188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64845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3: Validate (Weeks 13-16)</a:t>
            </a:r>
          </a:p>
        </p:txBody>
      </p:sp>
      <p:sp>
        <p:nvSpPr>
          <p:cNvPr id="13" name="TextBox 12"/>
          <p:cNvSpPr txBox="1"/>
          <p:nvPr/>
        </p:nvSpPr>
        <p:spPr>
          <a:xfrm>
            <a:off x="457200" y="390448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Compare agent decisions vs. human decisions on live data</a:t>
            </a:r>
            <a:br/>
            <a:r>
              <a:t>• Tune confidence thresholds for autonomous vs. escalated</a:t>
            </a:r>
            <a:br/>
            <a:r>
              <a:t>• Regulatory review of explainability and compliance</a:t>
            </a:r>
            <a:br/>
            <a:r>
              <a:t>• Stress test with edge cases and adversarial inputs</a:t>
            </a:r>
            <a:br/>
            <a:r>
              <a:t>• Train operational teams on agent monitoring and override</a:t>
            </a:r>
          </a:p>
        </p:txBody>
      </p:sp>
      <p:sp>
        <p:nvSpPr>
          <p:cNvPr id="14" name="Rectangle 13"/>
          <p:cNvSpPr/>
          <p:nvPr/>
        </p:nvSpPr>
        <p:spPr>
          <a:xfrm>
            <a:off x="365760" y="502920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506577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4: Scale (Weeks 17+)</a:t>
            </a:r>
          </a:p>
        </p:txBody>
      </p:sp>
      <p:sp>
        <p:nvSpPr>
          <p:cNvPr id="16" name="TextBox 15"/>
          <p:cNvSpPr txBox="1"/>
          <p:nvPr/>
        </p:nvSpPr>
        <p:spPr>
          <a:xfrm>
            <a:off x="457200" y="532180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Go live with select partners/channels (40% volume)</a:t>
            </a:r>
            <a:br/>
            <a:r>
              <a:t>• Expand to full volume over 4 weeks with continuous monitoring</a:t>
            </a:r>
            <a:br/>
            <a:r>
              <a:t>• Deploy Agent Command Center for governance at scale</a:t>
            </a:r>
            <a:br/>
            <a:r>
              <a:t>• Extend to adjacent use cases using same architecture</a:t>
            </a:r>
            <a:br/>
            <a:r>
              <a:t>• Continuous improvement: failures feed back into training</a:t>
            </a:r>
          </a:p>
        </p:txBody>
      </p:sp>
      <p:pic>
        <p:nvPicPr>
          <p:cNvPr id="17" name="Picture 16" descr="image.jpg"/>
          <p:cNvPicPr>
            <a:picLocks noChangeAspect="1"/>
          </p:cNvPicPr>
          <p:nvPr/>
        </p:nvPicPr>
        <p:blipFill>
          <a:blip r:embed="rId2"/>
          <a:stretch>
            <a:fillRect/>
          </a:stretch>
        </p:blipFill>
        <p:spPr>
          <a:xfrm>
            <a:off x="8076895" y="0"/>
            <a:ext cx="4114800" cy="6858000"/>
          </a:xfrm>
          <a:prstGeom prst="rect">
            <a:avLst/>
          </a:prstGeom>
        </p:spPr>
      </p:pic>
      <p:sp>
        <p:nvSpPr>
          <p:cNvPr id="18" name="TextBox 1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 Domain-Agent Grounded Edition</a:t>
            </a:r>
          </a:p>
        </p:txBody>
      </p:sp>
      <p:sp>
        <p:nvSpPr>
          <p:cNvPr id="19" name="TextBox 1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46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10912</Words>
  <Application>Microsoft Office PowerPoint</Application>
  <PresentationFormat>Widescreen</PresentationFormat>
  <Paragraphs>1188</Paragraphs>
  <Slides>46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sheker kamma</dc:creator>
  <cp:keywords/>
  <dc:description>generated using python-pptx</dc:description>
  <cp:lastModifiedBy>sheker kamma</cp:lastModifiedBy>
  <cp:revision>1</cp:revision>
  <dcterms:created xsi:type="dcterms:W3CDTF">2013-01-27T09:14:16Z</dcterms:created>
  <dcterms:modified xsi:type="dcterms:W3CDTF">2026-05-25T15:25:33Z</dcterms:modified>
  <cp:category/>
</cp:coreProperties>
</file>